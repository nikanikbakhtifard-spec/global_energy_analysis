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72" r:id="rId4"/>
    <p:sldId id="261" r:id="rId5"/>
    <p:sldId id="264" r:id="rId6"/>
    <p:sldId id="265" r:id="rId7"/>
    <p:sldId id="270" r:id="rId8"/>
    <p:sldId id="269" r:id="rId9"/>
    <p:sldId id="273" r:id="rId10"/>
    <p:sldId id="266" r:id="rId11"/>
    <p:sldId id="268" r:id="rId12"/>
    <p:sldId id="271" r:id="rId13"/>
    <p:sldId id="259" r:id="rId14"/>
  </p:sldIdLst>
  <p:sldSz cx="12192000" cy="6858000"/>
  <p:notesSz cx="6858000" cy="9144000"/>
  <p:embeddedFontLst>
    <p:embeddedFont>
      <p:font typeface="Libre Baskerville" panose="02000000000000000000" pitchFamily="2" charset="0"/>
      <p:regular r:id="rId16"/>
      <p:bold r:id="rId17"/>
      <p:italic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>
      <p:cViewPr varScale="1">
        <p:scale>
          <a:sx n="110" d="100"/>
          <a:sy n="110" d="100"/>
        </p:scale>
        <p:origin x="53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71109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263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8696" y="0"/>
            <a:ext cx="1219081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3071664" y="4005064"/>
            <a:ext cx="6242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lang="en-I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orl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lang="en-I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lang="en-I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id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en-I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nerg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 C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onsumptio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 A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nalysi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9C0003-2EC7-8260-5EF6-D0B3D075A817}"/>
              </a:ext>
            </a:extLst>
          </p:cNvPr>
          <p:cNvSpPr/>
          <p:nvPr/>
        </p:nvSpPr>
        <p:spPr>
          <a:xfrm>
            <a:off x="4727848" y="3068960"/>
            <a:ext cx="259228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564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Objective</a:t>
            </a:r>
            <a:br>
              <a:rPr lang="en-US" sz="32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IN" sz="3200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1124744"/>
            <a:ext cx="10515600" cy="4351338"/>
          </a:xfrm>
        </p:spPr>
        <p:txBody>
          <a:bodyPr/>
          <a:lstStyle/>
          <a:p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To </a:t>
            </a:r>
            <a:r>
              <a:rPr lang="en-GB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analyze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global energy consumption, production, and emissions data across multiple countries using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SQL and Power BI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14300" indent="0">
              <a:buNone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To understand the relationship between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energy usage, economic growth (GDP), population, and environmental impact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14300" indent="0">
              <a:buNone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To identify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high-emission and energy-intensive countries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using comparative and per-capita analysis.</a:t>
            </a:r>
          </a:p>
          <a:p>
            <a:pPr marL="114300" indent="0">
              <a:buNone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To present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clear, visual insights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that support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data-driven decision-making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and sustainability discussions.</a:t>
            </a:r>
            <a:endParaRPr lang="en-US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838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69A527-775C-649A-4A62-A68F95A55F04}"/>
              </a:ext>
            </a:extLst>
          </p:cNvPr>
          <p:cNvSpPr txBox="1"/>
          <p:nvPr/>
        </p:nvSpPr>
        <p:spPr>
          <a:xfrm>
            <a:off x="839416" y="404664"/>
            <a:ext cx="35782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2D1C0-9498-1124-AE6A-C902477148B0}"/>
              </a:ext>
            </a:extLst>
          </p:cNvPr>
          <p:cNvSpPr txBox="1"/>
          <p:nvPr/>
        </p:nvSpPr>
        <p:spPr>
          <a:xfrm>
            <a:off x="983432" y="989439"/>
            <a:ext cx="84030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project uses </a:t>
            </a: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global energy-related datasets</a:t>
            </a: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sourced from a standardized public data provider.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The data is structured into </a:t>
            </a: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 relational tables</a:t>
            </a: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enabling comparative and time-based analysis.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Each dataset captures a </a:t>
            </a: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different dimension</a:t>
            </a: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energy, economy, and population.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6E6D41-D128-8BA6-ADE5-0749F7902859}"/>
              </a:ext>
            </a:extLst>
          </p:cNvPr>
          <p:cNvSpPr txBox="1"/>
          <p:nvPr/>
        </p:nvSpPr>
        <p:spPr>
          <a:xfrm>
            <a:off x="839416" y="2020490"/>
            <a:ext cx="3018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Datasets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74397-53AC-2893-7817-F4661C12D248}"/>
              </a:ext>
            </a:extLst>
          </p:cNvPr>
          <p:cNvSpPr txBox="1"/>
          <p:nvPr/>
        </p:nvSpPr>
        <p:spPr>
          <a:xfrm>
            <a:off x="983432" y="2708920"/>
            <a:ext cx="1036915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Country</a:t>
            </a:r>
            <a:b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Contains the list of countries and acts as the central reference table.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Emission</a:t>
            </a:r>
            <a:b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Stores total emissions by country, year, and energy type.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Consumption</a:t>
            </a:r>
            <a:b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Records energy consumption values by country, year, and energy source.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Production</a:t>
            </a:r>
            <a:b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Contains energy production data by country and year.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GDP</a:t>
            </a:r>
            <a:b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Provides economic indicators (GDP values) by country and year.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Population</a:t>
            </a:r>
            <a:b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Stores population values used for per-capita analysis.</a:t>
            </a: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7B6363-B507-6E10-0D75-E0ACFA5CC9BB}"/>
              </a:ext>
            </a:extLst>
          </p:cNvPr>
          <p:cNvSpPr txBox="1"/>
          <p:nvPr/>
        </p:nvSpPr>
        <p:spPr>
          <a:xfrm>
            <a:off x="479376" y="6145559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5684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1344" y="260648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 Diagram &amp; Database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974" y="3789040"/>
            <a:ext cx="473535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Table Relationships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 → Emission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(One-to-Many)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One country can have multiple emission records by year and energy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 → Consumption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(One-to-Many)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Tracks energy consumption by country and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 → Production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(One-to-Many)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Stores energy production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 → GDP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(One-to-Many)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Maintains economic data by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 → Population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(One-to-Many)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Stores population values for per-capita analysis.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7D9CFA-23C7-2127-B266-59F78CF2C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5" y="980728"/>
            <a:ext cx="5268060" cy="895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7CC8B1-FE74-FA47-EC7B-6B20598EF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904" y="260648"/>
            <a:ext cx="6846498" cy="56166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E90859-7EF5-2196-5350-AA44A23AC6C9}"/>
              </a:ext>
            </a:extLst>
          </p:cNvPr>
          <p:cNvSpPr txBox="1"/>
          <p:nvPr/>
        </p:nvSpPr>
        <p:spPr>
          <a:xfrm>
            <a:off x="79409" y="1868469"/>
            <a:ext cx="508048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Database Schema Overview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table acts as the central master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All other datasets are connected to Country using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 name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year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This structure ensures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data consistency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easy comparison across datasets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8208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EE267B-CB8A-A332-40FE-03286772C211}"/>
              </a:ext>
            </a:extLst>
          </p:cNvPr>
          <p:cNvSpPr txBox="1"/>
          <p:nvPr/>
        </p:nvSpPr>
        <p:spPr>
          <a:xfrm>
            <a:off x="1775520" y="188640"/>
            <a:ext cx="705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Global Emissions Trend Over Time</a:t>
            </a:r>
            <a:endParaRPr lang="en-IN" sz="2400" b="1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E87F7A-17CB-4EA3-888D-0481FE7A8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85" y="1983991"/>
            <a:ext cx="2600688" cy="14289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3CCB63-61D0-BEE4-9D08-ED50DDD2499F}"/>
              </a:ext>
            </a:extLst>
          </p:cNvPr>
          <p:cNvSpPr txBox="1"/>
          <p:nvPr/>
        </p:nvSpPr>
        <p:spPr>
          <a:xfrm>
            <a:off x="1199456" y="1103835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Query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948039-432E-EC8F-7CA6-D74603101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776" y="2938394"/>
            <a:ext cx="1552792" cy="9812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A1A0E6-E386-02A8-56E7-868E90620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158" y="1172465"/>
            <a:ext cx="5963482" cy="413442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9F762F-EFF5-CE4A-7F54-66EC5A1602BA}"/>
              </a:ext>
            </a:extLst>
          </p:cNvPr>
          <p:cNvSpPr txBox="1"/>
          <p:nvPr/>
        </p:nvSpPr>
        <p:spPr>
          <a:xfrm>
            <a:off x="119336" y="4293096"/>
            <a:ext cx="1037816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Global emissions show a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consistent upward trend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over the years.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Emissions increased steadily from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2020 to 2023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No significant decline is observed during this period.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Despite awareness and policies,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global emissions continue to rise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, highlighting the need for stronger sustainability actions.</a:t>
            </a: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7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91544" y="116632"/>
            <a:ext cx="75408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Consumption vs Total Production by Country</a:t>
            </a:r>
            <a:endParaRPr lang="en-IN" sz="2400" b="1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31CB13-1E8F-75B1-8DFD-4A33E317D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119" y="1193410"/>
            <a:ext cx="5220429" cy="36676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BDB301-8D8B-DCFB-C2AB-35207E5261C4}"/>
              </a:ext>
            </a:extLst>
          </p:cNvPr>
          <p:cNvSpPr txBox="1"/>
          <p:nvPr/>
        </p:nvSpPr>
        <p:spPr>
          <a:xfrm>
            <a:off x="1343472" y="90872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B798B4-5AE7-28C4-D8F8-8D0FA874B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792" y="2060848"/>
            <a:ext cx="3054571" cy="15841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192297-E57E-8F46-D5AE-909CB95E1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1" y="1412776"/>
            <a:ext cx="2824676" cy="17242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9E0E1E-E9B6-D567-42B6-6B02424A530C}"/>
              </a:ext>
            </a:extLst>
          </p:cNvPr>
          <p:cNvSpPr txBox="1"/>
          <p:nvPr/>
        </p:nvSpPr>
        <p:spPr>
          <a:xfrm>
            <a:off x="189903" y="4060828"/>
            <a:ext cx="1025793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Several countries show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higher energy consumption than production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Some countries maintain a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balanced or surplus energy production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Energy patterns vary significantly across countries.</a:t>
            </a:r>
          </a:p>
          <a:p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Countries consuming more than they produce are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energy-import dependent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, which may impact energy security and costs.</a:t>
            </a: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952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942BF0-73E5-129D-5778-CECD6A6E8031}"/>
              </a:ext>
            </a:extLst>
          </p:cNvPr>
          <p:cNvSpPr txBox="1"/>
          <p:nvPr/>
        </p:nvSpPr>
        <p:spPr>
          <a:xfrm>
            <a:off x="3287688" y="127364"/>
            <a:ext cx="4860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Energy Consumption per Capita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04E0F-2E7C-A35F-2770-17520DB77DEB}"/>
              </a:ext>
            </a:extLst>
          </p:cNvPr>
          <p:cNvSpPr txBox="1"/>
          <p:nvPr/>
        </p:nvSpPr>
        <p:spPr>
          <a:xfrm>
            <a:off x="1199456" y="710639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SQL Query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CDC3BB-C52A-38E7-1364-FFF285C339A0}"/>
              </a:ext>
            </a:extLst>
          </p:cNvPr>
          <p:cNvSpPr txBox="1"/>
          <p:nvPr/>
        </p:nvSpPr>
        <p:spPr>
          <a:xfrm>
            <a:off x="407368" y="4221088"/>
            <a:ext cx="1113958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Per-capita energy consumption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increased sharply from 2020 to 2021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Growth continues but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slows slightly after 2022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Indicates rising energy usage per individual.</a:t>
            </a:r>
          </a:p>
          <a:p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Increasing per-capita consumption reflects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changing lifestyles and higher energy dependency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, especially in developing economies.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621537-BE0A-9E34-242B-1121BC88D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242049"/>
            <a:ext cx="4143953" cy="20386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AEDD0F-098D-2406-EFC1-9257BA405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139" y="2492896"/>
            <a:ext cx="3200847" cy="20672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A21F84-1DC5-2757-8F0E-7DC0A9911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189" y="1242049"/>
            <a:ext cx="5763429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1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6619" y="89689"/>
            <a:ext cx="59586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Energy Type Contribution to Emissions</a:t>
            </a:r>
            <a:endParaRPr lang="en-IN" sz="2400" b="1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99536-603F-A77D-D488-389866A58BB2}"/>
              </a:ext>
            </a:extLst>
          </p:cNvPr>
          <p:cNvSpPr txBox="1"/>
          <p:nvPr/>
        </p:nvSpPr>
        <p:spPr>
          <a:xfrm>
            <a:off x="407368" y="4293096"/>
            <a:ext cx="1048716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CO₂-related energy sources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contribute the highest emissions.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Fossil-fuel-based energy dominates emission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Cleaner energy sources contribute comparatively less.</a:t>
            </a:r>
          </a:p>
          <a:p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Emissions are heavily driven by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fossil fuel usage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, emphasizing the need to accelerate adoption of renewable energy sources.</a:t>
            </a: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9AD5D8-5030-A912-1595-48174880362C}"/>
              </a:ext>
            </a:extLst>
          </p:cNvPr>
          <p:cNvSpPr txBox="1"/>
          <p:nvPr/>
        </p:nvSpPr>
        <p:spPr>
          <a:xfrm>
            <a:off x="623392" y="692696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D111E2-5A43-A1EE-99A2-C93EBCE6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184534"/>
            <a:ext cx="2495898" cy="13146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DD304E-1DDA-C7BE-AF8C-3F8D74C74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578" y="3170382"/>
            <a:ext cx="3391373" cy="1076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DB856D-FF33-1C72-4EA5-C74E83F5D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976" y="699465"/>
            <a:ext cx="6169837" cy="500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86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B2B5D7-C9C4-4755-1A2A-68209D72157C}"/>
              </a:ext>
            </a:extLst>
          </p:cNvPr>
          <p:cNvSpPr txBox="1"/>
          <p:nvPr/>
        </p:nvSpPr>
        <p:spPr>
          <a:xfrm>
            <a:off x="3431704" y="44624"/>
            <a:ext cx="3961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Emission by Country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7870D-CA43-BDD6-FDEA-D437949B20C7}"/>
              </a:ext>
            </a:extLst>
          </p:cNvPr>
          <p:cNvSpPr txBox="1"/>
          <p:nvPr/>
        </p:nvSpPr>
        <p:spPr>
          <a:xfrm>
            <a:off x="767408" y="620688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SQL Query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21F321-B8BB-9D1F-740C-143E6B41D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196752"/>
            <a:ext cx="2391109" cy="1514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F1B3BB-96C9-0AAC-B3E9-0B50D7BA2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477" y="2604501"/>
            <a:ext cx="1695687" cy="19338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FE1FBB-CFD2-DCC9-5BA4-B0735C0F56AA}"/>
              </a:ext>
            </a:extLst>
          </p:cNvPr>
          <p:cNvSpPr txBox="1"/>
          <p:nvPr/>
        </p:nvSpPr>
        <p:spPr>
          <a:xfrm>
            <a:off x="551384" y="4293096"/>
            <a:ext cx="828944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A small number of countries contribute the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major share of total emissions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China and the United States lead global emissions.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Other countries contribute significantly less in comparison.</a:t>
            </a:r>
          </a:p>
          <a:p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Global emission reduction efforts should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prioritize high-emission countries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for maximum impact.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D7FF50-1CA5-F63B-6BCA-145CECF0E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880" y="1089815"/>
            <a:ext cx="7030431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43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AQ8AAAEICAYAAABBKnGGAAAAOXRFWHRTb2Z0d2FyZQBNYXRwbG90bGliIHZlcnNpb24zLjkuNCwgaHR0cHM6Ly9tYXRwbG90bGliLm9yZy8ekN5oAAAACXBIWXMAAAsTAAALEwEAmpwYAAAWGUlEQVR4nO3deZQdZZ3G8e9DFoIECEubCQTsaFhEEdAmgODI6oIijGJk08ggGXUUchxZBPTE5Tg6LkRlDhpFCbIGBAMOiyEkcGSLHYJACJshkIQszRJIIKCB3/xRb0PR9HL77a6+6eT5nHNPV731VtWv7vJ0Vd176yoiMDPrro3qXYCZ9U8ODzPL4vAwsywODzPL4vAwsywODzPL4vDoIUkhafQ6UMdCSYfUu46uSNpB0mpJA3ppeRMlXdQby7LuWW/DIz1BW2+vSlpTGj+ug3kOkLS4F2uYJemlNrVc21vL748i4omIGBoRr3R33t5+fDpYxxhJ10laKekZSbMlnVDlOvur9TY80hN0aEQMBZ4ADi+1XdyHpXylXEtEHN6H67ZukLQvcDNwCzAa2Br4EvDReta1rlpvw6MjkjaWNEnSk+k2KbVtClwPbFvaS9g2/Se6I/0nWirpXEmDe6GOAyQtlnSapBVp2UdKOkzSw+m/3pml/hMlXSnpckmrJN0taffubGOadr+kw0t9B0l6StKeaXwfSben7f2bpANKfbeQdH6qdYmk77UefkgaLekWSc+l5V3eQW2N6VBvYBqfJem7km5L2/VnSdu0M1+7j0+aPFjShWn+eZKaSvNtK+kPklokPSbp5E4elh8BUyLihxHxVBTmRMTY0vJOkvRoenyuKdXQegj7ZUmPpFq+K+kd6f58XtLU1udO6fE/M91fC8t7xJI+Jmlumm+RpInt3IfjJD2R5j8rTfsXSS9K2rrU/71p+wd1su3dFxHr/Q1YCByShr8D3Am8FWgAbge+m6YdACxuM+/7gH2AgUAjMB+YUJoewOgO1jsL+EIH0w4A1gLfAgYBJwEtwCXAZsC7gDXAqNR/IvBP4KjU/+vAY8Cgbm7jacDlpTqOAO5Lw9sBTwOHUfxjOTSNN6TpVwO/AjZNy54N/EeadilwVppvCLB/B9vdmO6zgaX76O/ATsAmafwHndxnbR+ficBLqeYBwH8Dd6ZpGwFz0n08GHg7sAD4cDvLfgvwCnBgJ8+jg4CngPcCGwO/AG5t81yYBmyeHr+XgRlpvVsADwDj2jz+P03L+iDwArBzafpuaRveAywHjmxzH/463We7p3W9M02/DvhSqa5zgF/0+uuq3i/svri1eWH9HTisNO3DwMKOnpztLGsCcHWbJ0xn4fEisLJ0KwfVGmBAGt8sLWvv0vxzSk+Yia0vitILYynwgW5u47bAKmDzNH4lcFoaPh34fZttuBEYBwxPT9BNStOOAWam4QuBycDILu6/1id+OTzOLk3/MnBDB/O+6fFJ98tNpfFdgTVpeG/giTb9vwH8rp1lb5fq2qWT2s8H/qc0PpQi0BtLz4X92jx+p5fGfwJMKm3LWmDT0vSpwDc7WPck4Jw29+HI0vTZwNFp+DPAbWl4ALAMGNPbr6sN7rCF4sXzeGn88dTWLkk7SfqTpGWSnge+D7xpt7oTJ0fEsNLtm6VpT8frJw7XpL/LS9PXUDxBWy1qHYiIV4HFHdTe4TZGxJPAbcCnJA2jOJ5vPQf0NuDT6ZBlpaSVwP7AiDRtELC0NO1XFHsgUOzRCJidDh3+vZP7pK1lpeEX22xzzvxD0mHR2ygOc8rbcyZFELb1LPAqxbZ25A33a0Ssptgz267Up+3j19nj+WxEvFAaf+1xkrS3pJnpcOM54Iu8+XnX0f02DdhV0iiKvcfnImJ2J9uVZWBvL7AfeJLiSTUvje+Q2qBI87bOA+YCx0TEKkkTKA4d6mH71gFJGwEjeb32ss62EWAK8AWKx/+OiFiS2hdR7Hmc1HaBkkZQ7HlsExFr206PiGUUh15I2h+4SdKtEfFot7awc939Cvgi4LGI2LHLBUe8KOkO4FPAzA66td6vwGvnYbYGlnTQvytbStq0FCA7APen4UuAc4GPRsRLkiZR4z+t1H8qcDywC/D7zPo6tSHueVwKnC2pIZ2Y+xbQ+jmB5cDWkrYo9d8MeB5YLWkXirPv9fI+SZ9M/1UnULyY72ynX2fbCPBHiuP2UygON1pdBBwu6cOSBkgakk7sjYyIpcCfgZ9I2lzSRulk4AcBJH1a0si0nGcpXuiv9taGJ+09Pp2ZDaySdLqkTdI2vVvSXh30Pw34vKRTW084Stpd0mVp+qXACZL2UHEC+vvAXRGxMH+T+LakwZI+AHwcuCK1bwY8k4JgDHBsN5d7IfB54BM4PHrN94Bm4F7gPuDu1EZEPEjxBFmQdnO3pTgxeSzFeYJfA+2+i9CJc/XGz3nM6UHt0yiOZ58FPgt8MiL+2U6/DrcRICLWAH8ARgFXldoXUZxAPZPi5O0i4FRef558juLE4wOphit5fTd/L+AuSauBa4BTImJBD7b1TTp4fDrr/wrFC3IPipPLTwG/oTh52V7/2ylOih6U1vEMxXmc69L0m4BvUtx3S4F3AEf3YJOWUdyPT1IcOn4xbSMU536+I2kVRfhP7c6CI+I2ivC+OyIe76p/DqWTKraOS2/VjY6I43tped8Cduqt5Vn3qHgL/KKIGNlF156s42bgkoj4TRXL3xDPeWzwJG0FnEix92LroXRo9l6KPclKbIiHLRs0SSdRHI5cHxG31rse632SpgA3UXweaVVl6/Fhi5nl8J6HmWXpF+c8ttlmm2hsbKx3GWYbnDlz5jwVEQ3tTesX4dHY2Ehzc3O9yzDb4Ejq8G1eH7aYWRaHh5llcXiYWRaHh5llcXiYWRaHh5llqTQ8JA1Tcd3NByXNl7SvpK0kTU/XeZwuacsqazCzalS95/EzikvK7UJxncX5wBnAjHSBlhlp3Mz6mcrCI12w5V8prvtIRPwjIlZSfMtvSuo2BTiyqhrMrDpVfsJ0FMUFZX6n4icC5lBcuWp4uioVFBdDae96kkgaD4wH2GGHHWpaYdN17V2Rz8zaaj6s0+so1aTKw5aBFNcTOC8i9qS4rPwbDlGi+Epvu1/rjYjJEdEUEU0NDe1+tN7M6qjK8FhMcZn8u9L4lRRhsjxdTLf1ororKqzBzCpSWXikq2kvkrRzajqY4tqX11D8Dgjp77SqajCz6lT9rdqvAhenn9hbAJxAEVhTJZ1I8TsVYzuZ38zWUZWGR0TcAzS1M+ngKtdrZtXzJ0zNLIvDw8yyODzMLIvDw8yyODzMLIvDw8yyODzMLIvDw8yyODzMLIvDw8yyODzMLIvDw8yyODzMLIvDw8yyODzMLIvDw8yyODzMLIvDw8yyODzMLIvDw8yyODzMLIvDw8yyODzMLIvDw8yyODzMLEulvxgnaSGwCngFWBsRTZK2Ai4HGoGFwNiIeLbKOsys9/XFnseBEbFHRLT+7OQZwIyI2BGYkcbNrJ+px2HLEcCUNDwFOLIONZhZD1UdHgH8WdIcSeNT2/CIWJqGlwHD25tR0nhJzZKaW1paKi7TzLqr0nMewP4RsUTSW4Hpkh4sT4yIkBTtzRgRk4HJAE1NTe32MbP6qXTPIyKWpL8rgKuBMcBySSMA0t8VVdZgZtWoLDwkbSpps9Zh4EPA/cA1wLjUbRwwraoazKw6VR62DAeultS6nksi4gZJfwWmSjoReBwYW2ENZlaRysIjIhYAu7fT/jRwcFXrNbO+4U+YmlkWh4eZZXF4mFkWh4eZZXF4mFkWh4eZZXF4mFkWh4eZZXF4mFkWh4eZZXF4mFkWh4eZZXF4mFkWh4eZZXF4mFkWh4eZZXF4mFkWh4eZZXF4mFkWh4eZZXF4mFkWh4eZZXF4mFkWh4eZZXF4mFkWh4eZZak8PCQNkDRX0p/S+ChJd0l6VNLlkgZXXYOZ9b6+2PM4BZhfGv8hcE5EjAaeBU7sgxrMrJdVGh6SRgIfA36TxgUcBFyZukwBjqyyBjOrRtV7HpOA04BX0/jWwMqIWJvGFwPbtTejpPGSmiU1t7S0VFymmXVXZeEh6ePAioiYkzN/REyOiKaIaGpoaOjl6syspwZWuOz9gE9IOgwYAmwO/AwYJmlg2vsYCSypsAYzq0hlex4R8Y2IGBkRjcDRwM0RcRwwEzgqdRsHTKuqBjOrTj0+53E68DVJj1KcAzm/DjWYWQ9VedjymoiYBcxKwwuAMX2xXjOrjj9hamZZHB5mlsXhYWZZHB5mlsXhYWZZHB5mlsXhYWZZHB5mlsXhYWZZHB5mlsXhYWZZagoPSfvV0mZmG45a9zx+UWObmW0gOv1WraR9gfcDDZK+Vpq0OTCgysLMbN3W1VfyBwNDU7/NSu3P8/oFfcxsA9RpeETELcAtki6IiMf7qCYz6wdqvRjQxpImA43leSLioCqKMrN1X63hcQXwS4rfX3mlunLMrL+oNTzWRsR5lVZiZv1KrW/VXivpy5JGSNqq9VZpZWa2Tqt1z2Nc+ntqqS2At/duOWbWX9QUHhExqupCzKx/qSk8JH2uvfaIuLB3yzGz/qLWw5a9SsNDgIOBuwGHh9kGqtbDlq+WxyUNAy6roiAz6x9yv5L/AtDpeRBJQyTNlvQ3SfMkfTu1j5J0l6RHJV0uaXBmDWZWR7We87iW4t0VKL4Q905gahezvQwcFBGrJQ0C/iLpeuBrwDkRcZmkXwInAv4MiVk/U+s5jx+XhtcCj0fE4s5miIgAVqfRQekWwEHAsal9CjARh4dZv1PTYUv6gtyDFN+s3RL4Ry3zSRog6R5gBTAd+DuwMiLWpi6Lge06mHe8pGZJzS0tLbWszsz6UK1XEhsLzAY+DYwF7pLU5VfyI+KViNgDGAmMAXaptbCImBwRTRHR1NDQUOtsZtZHaj1sOQvYKyJWAEhqAG4Crqxl5ohYKWkmsC8wTNLAtPcxEljS/bLNrN5qfbdlo9bgSJ7ual5JDektXSRtAhwKzAdm8vqFhMYB07pTsJmtG2rd87hB0o3ApWn8M8B1XcwzApgiaQBF0EyNiD9JegC4TNL3gLnA+Rl1m1mddXUN09HA8Ig4VdIngf3TpDuAizubNyLuBfZsp30BxfkPM+vHutrzmAR8AyAirgKuApC0W5p2eIW1mdk6rKtzHsMj4r62jamtsZKKzKxf6Co8hnUybZNerMPM+pmuwqNZ0kltGyV9AZhTTUlm1h90dc5jAnC1pON4PSyaKH7P5d8qrMvM1nFd/W7LcuD9kg4E3p2a/y8ibq68MjNbp9V6PY+ZFB/uMjMD8q/nYWYbOIeHmWVxeJhZFoeHmWVxeJhZFoeHmWVxeJhZFoeHmWVxeJhZFoeHmWVxeJhZFoeHmWVxeJhZFoeHmWVxeJhZFoeHmWVxeJhZFoeHmWVxeJhZlsrCQ9L2kmZKekDSPEmnpPatJE2X9Ej6u2VVNZhZdarc81gL/FdE7ArsA/ynpF2BM4AZEbEjMCONm1k/U1l4RMTSiLg7Da8C5gPbAUcAU1K3KcCRVdVgZtXpk3MekhqBPYG7KH7/dmmatAwY3sE84yU1S2puaWnpizLNrBsqDw9JQ4E/ABMi4vnytIgIINqbLyImR0RTRDQ1NDRUXaaZdVOl4SFpEEVwXBwRV6Xm5ZJGpOkjgBVV1mBm1ajy3RYB5wPzI+KnpUnXAOPS8DhgWlU1mFl1avq5yUz7AZ8F7pN0T2o7E/gBMFXSicDjwNgKazCzilQWHhHxF0AdTD64qvWaWd/wJ0zNLIvDw8yyODzMLIvDw8yyODzMLIvDw8yyODzMLIvDw8yyODzMLIvDw8yyODzMLIvDw8yyODzMLIvDw8yyODzMLIvDw8yyODzMLIvDw8yyODzMLIvDw8yyODzMLIvDw8yyODzMLIvDw8yyODzMLEuVv1X7W0krJN1fattK0nRJj6S/W1a1fjOrVpV7HhcAH2nTdgYwIyJ2BGakcTPrhyoLj4i4FXimTfMRwJQ0PAU4sqr1m1m1+vqcx/CIWJqGlwHDO+ooabykZknNLS0tfVOdmdWsbidMIyKA6GT65IhoioimhoaGPqzMzGrR1+GxXNIIgPR3RR+v38x6SV+HxzXAuDQ8DpjWx+s3s15S5Vu1lwJ3ADtLWizpROAHwKGSHgEOSeNm1g8NrGrBEXFMB5MOrmqdZtZ3/AlTM8vi8DCzLA4PM8vi8DCzLA4PM8vi8DCzLA4PM8vi8DCzLA4PM8vi8DCzLA4PM8vi8DCzLA4PM8vi8DCzLA4PM8vi8DCzLA4PM8vi8DCzLA4PM8vi8DCzLA4PM8vi8DCzLA4PM8vi8DCzLA4PM8vi8DCzLHUJD0kfkfSQpEclnVGPGsysZ/o8PCQNAP4X+CiwK3CMpF37ug4z65l67HmMAR6NiAUR8Q/gMuCIOtRhZj0wsA7r3A5YVBpfDOzdtpOk8cD4NLpa0kN9UJv1vm2Ap+pdhL2Rau/6to4m1CM8ahIRk4HJ9a7DekZSc0Q01bsO6331OGxZAmxfGh+Z2sysH6lHePwV2FHSKEmDgaOBa+pQh5n1QJ8ftkTEWklfAW4EBgC/jYh5fV2H9Rkfeq6nFBH1rsHM+iF/wtTMsjg8zCyLw6Ofk7S1pHvSbZmkJaXxwW36TpD0lhqWOUvSm95eTe0PlZZ/ZS9twwWSjuqNZVnfWWc/52G1iYingT0AJE0EVkfEjzvoPgG4CHixB6s8LiKaezC/rSe857EeknSwpLmS7pP0W0kbSzoZ2BaYKWlm6neepGZJ8yR9uwfruyAt605JCyQdkNY7X9IFpX6rJZ2T1jdDUkONtR8k6Y+lPodKujoNf0jSHZLulnSFpKGp/X2SbpE0R9KNkkak9pMlPSDpXkmX5W6zARHh23pyAyYCZ1N8/H+n1HYhMCENLwS2KfXfKv0dAMwC3pPGZwFN7Sx/FvAQcE+6/Si1X0DxHSVRfE/peWA3in9Oc4A9Ur+g2HMB+BZwbmn+o4Ah7dWelvsg0JDaLwEOp/jo+63Apqn99LTcQcDtpf6fofhIAMCTwMZpeFi9H7P+fPOex/pnAPBYRDycxqcA/9pB37GS7gbmAu+i+JZzV46LiD3S7dRS+7VRvCLvA5ZHxH0R8SowD2hMfV4FLk/DFwH7t1n2zu3Vnpb7e+B4ScOAfYHrgX1SzbdJugcYR/FdjJ2BdwPTU/vZFJ9kBrgXuFjS8cDaGrbXOuBzHhsoSaOArwN7RcSz6fBiSA8W+XL6+2ppuHW8o+dZdz5k9DvgWuAl4IooPmwoYHpEHFPuKGk3YF5E7NvOcj5GEaaHA2dJ2i0iHCIZvOex/nkFaJQ0Oo1/FrglDa8CNkvDmwMvAM9JGk5xfZWqbURxeAJwLPCXNtMfooPaI+JJikOOsymCBOBOYL/W/pI2lbRTWk6DpH1T+yBJ75K0EbB9RMykOMTZAhja+5u5YfCex/rnJeAE4ApJAym+S/TLNG0ycIOkJyPiQElzKc4lLAJuq3H5F0tak4afiohDulHbC8AYSWcDKyjORbwmIl6S1FHtABdTnMeYn/q3SPo8cKmkjVOfsyPi4fTW788lbUHxPJ8EPAxclNoE/DwiVnajfivxx9Otz0haHRHZ/+klnQvMjYjze7Esy+TwsD7Tk/CQNIdiz+XQiHi5q/5WPYeHmWXxCVMzy+LwMLMsDg8zy+LwMLMsDg8zy/L/mvgLGR65MI4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data:image/png;base64,iVBORw0KGgoAAAANSUhEUgAAAQ8AAAEICAYAAABBKnGGAAAAOXRFWHRTb2Z0d2FyZQBNYXRwbG90bGliIHZlcnNpb24zLjkuNCwgaHR0cHM6Ly9tYXRwbG90bGliLm9yZy8ekN5oAAAACXBIWXMAAAsTAAALEwEAmpwYAAAWGUlEQVR4nO3deZQdZZ3G8e9DFoIECEubCQTsaFhEEdAmgODI6oIijGJk08ggGXUUchxZBPTE5Tg6LkRlDhpFCbIGBAMOiyEkcGSLHYJACJshkIQszRJIIKCB3/xRb0PR9HL77a6+6eT5nHNPV731VtWv7vJ0Vd176yoiMDPrro3qXYCZ9U8ODzPL4vAwsywODzPL4vAwsywODzPL4vDoIUkhafQ6UMdCSYfUu46uSNpB0mpJA3ppeRMlXdQby7LuWW/DIz1BW2+vSlpTGj+ug3kOkLS4F2uYJemlNrVc21vL748i4omIGBoRr3R33t5+fDpYxxhJ10laKekZSbMlnVDlOvur9TY80hN0aEQMBZ4ADi+1XdyHpXylXEtEHN6H67ZukLQvcDNwCzAa2Br4EvDReta1rlpvw6MjkjaWNEnSk+k2KbVtClwPbFvaS9g2/Se6I/0nWirpXEmDe6GOAyQtlnSapBVp2UdKOkzSw+m/3pml/hMlXSnpckmrJN0taffubGOadr+kw0t9B0l6StKeaXwfSben7f2bpANKfbeQdH6qdYmk77UefkgaLekWSc+l5V3eQW2N6VBvYBqfJem7km5L2/VnSdu0M1+7j0+aPFjShWn+eZKaSvNtK+kPklokPSbp5E4elh8BUyLihxHxVBTmRMTY0vJOkvRoenyuKdXQegj7ZUmPpFq+K+kd6f58XtLU1udO6fE/M91fC8t7xJI+Jmlumm+RpInt3IfjJD2R5j8rTfsXSS9K2rrU/71p+wd1su3dFxHr/Q1YCByShr8D3Am8FWgAbge+m6YdACxuM+/7gH2AgUAjMB+YUJoewOgO1jsL+EIH0w4A1gLfAgYBJwEtwCXAZsC7gDXAqNR/IvBP4KjU/+vAY8Cgbm7jacDlpTqOAO5Lw9sBTwOHUfxjOTSNN6TpVwO/AjZNy54N/EeadilwVppvCLB/B9vdmO6zgaX76O/ATsAmafwHndxnbR+ficBLqeYBwH8Dd6ZpGwFz0n08GHg7sAD4cDvLfgvwCnBgJ8+jg4CngPcCGwO/AG5t81yYBmyeHr+XgRlpvVsADwDj2jz+P03L+iDwArBzafpuaRveAywHjmxzH/463We7p3W9M02/DvhSqa5zgF/0+uuq3i/svri1eWH9HTisNO3DwMKOnpztLGsCcHWbJ0xn4fEisLJ0KwfVGmBAGt8sLWvv0vxzSk+Yia0vitILYynwgW5u47bAKmDzNH4lcFoaPh34fZttuBEYBwxPT9BNStOOAWam4QuBycDILu6/1id+OTzOLk3/MnBDB/O+6fFJ98tNpfFdgTVpeG/giTb9vwH8rp1lb5fq2qWT2s8H/qc0PpQi0BtLz4X92jx+p5fGfwJMKm3LWmDT0vSpwDc7WPck4Jw29+HI0vTZwNFp+DPAbWl4ALAMGNPbr6sN7rCF4sXzeGn88dTWLkk7SfqTpGWSnge+D7xpt7oTJ0fEsNLtm6VpT8frJw7XpL/LS9PXUDxBWy1qHYiIV4HFHdTe4TZGxJPAbcCnJA2jOJ5vPQf0NuDT6ZBlpaSVwP7AiDRtELC0NO1XFHsgUOzRCJidDh3+vZP7pK1lpeEX22xzzvxD0mHR2ygOc8rbcyZFELb1LPAqxbZ25A33a0Ssptgz267Up+3j19nj+WxEvFAaf+1xkrS3pJnpcOM54Iu8+XnX0f02DdhV0iiKvcfnImJ2J9uVZWBvL7AfeJLiSTUvje+Q2qBI87bOA+YCx0TEKkkTKA4d6mH71gFJGwEjeb32ss62EWAK8AWKx/+OiFiS2hdR7Hmc1HaBkkZQ7HlsExFr206PiGUUh15I2h+4SdKtEfFot7awc939Cvgi4LGI2LHLBUe8KOkO4FPAzA66td6vwGvnYbYGlnTQvytbStq0FCA7APen4UuAc4GPRsRLkiZR4z+t1H8qcDywC/D7zPo6tSHueVwKnC2pIZ2Y+xbQ+jmB5cDWkrYo9d8MeB5YLWkXirPv9fI+SZ9M/1UnULyY72ynX2fbCPBHiuP2UygON1pdBBwu6cOSBkgakk7sjYyIpcCfgZ9I2lzSRulk4AcBJH1a0si0nGcpXuiv9taGJ+09Pp2ZDaySdLqkTdI2vVvSXh30Pw34vKRTW084Stpd0mVp+qXACZL2UHEC+vvAXRGxMH+T+LakwZI+AHwcuCK1bwY8k4JgDHBsN5d7IfB54BM4PHrN94Bm4F7gPuDu1EZEPEjxBFmQdnO3pTgxeSzFeYJfA+2+i9CJc/XGz3nM6UHt0yiOZ58FPgt8MiL+2U6/DrcRICLWAH8ARgFXldoXUZxAPZPi5O0i4FRef558juLE4wOphit5fTd/L+AuSauBa4BTImJBD7b1TTp4fDrr/wrFC3IPipPLTwG/oTh52V7/2ylOih6U1vEMxXmc69L0m4BvUtx3S4F3AEf3YJOWUdyPT1IcOn4xbSMU536+I2kVRfhP7c6CI+I2ivC+OyIe76p/DqWTKraOS2/VjY6I43tped8Cduqt5Vn3qHgL/KKIGNlF156s42bgkoj4TRXL3xDPeWzwJG0FnEix92LroXRo9l6KPclKbIiHLRs0SSdRHI5cHxG31rse632SpgA3UXweaVVl6/Fhi5nl8J6HmWXpF+c8ttlmm2hsbKx3GWYbnDlz5jwVEQ3tTesX4dHY2Ehzc3O9yzDb4Ejq8G1eH7aYWRaHh5llcXiYWRaHh5llcXiYWRaHh5llqTQ8JA1Tcd3NByXNl7SvpK0kTU/XeZwuacsqazCzalS95/EzikvK7UJxncX5wBnAjHSBlhlp3Mz6mcrCI12w5V8prvtIRPwjIlZSfMtvSuo2BTiyqhrMrDpVfsJ0FMUFZX6n4icC5lBcuWp4uioVFBdDae96kkgaD4wH2GGHHWpaYdN17V2Rz8zaaj6s0+so1aTKw5aBFNcTOC8i9qS4rPwbDlGi+Epvu1/rjYjJEdEUEU0NDe1+tN7M6qjK8FhMcZn8u9L4lRRhsjxdTLf1ororKqzBzCpSWXikq2kvkrRzajqY4tqX11D8Dgjp77SqajCz6lT9rdqvAhenn9hbAJxAEVhTJZ1I8TsVYzuZ38zWUZWGR0TcAzS1M+ngKtdrZtXzJ0zNLIvDw8yyODzMLIvDw8yyODzMLIvDw8yyODzMLIvDw8yyODzMLIvDw8yyODzMLIvDw8yyODzMLIvDw8yyODzMLIvDw8yyODzMLIvDw8yyODzMLIvDw8yyODzMLIvDw8yyODzMLIvDw8yyODzMLEulvxgnaSGwCngFWBsRTZK2Ai4HGoGFwNiIeLbKOsys9/XFnseBEbFHRLT+7OQZwIyI2BGYkcbNrJ+px2HLEcCUNDwFOLIONZhZD1UdHgH8WdIcSeNT2/CIWJqGlwHD25tR0nhJzZKaW1paKi7TzLqr0nMewP4RsUTSW4Hpkh4sT4yIkBTtzRgRk4HJAE1NTe32MbP6qXTPIyKWpL8rgKuBMcBySSMA0t8VVdZgZtWoLDwkbSpps9Zh4EPA/cA1wLjUbRwwraoazKw6VR62DAeultS6nksi4gZJfwWmSjoReBwYW2ENZlaRysIjIhYAu7fT/jRwcFXrNbO+4U+YmlkWh4eZZXF4mFkWh4eZZXF4mFkWh4eZZXF4mFkWh4eZZXF4mFkWh4eZZXF4mFkWh4eZZXF4mFkWh4eZZXF4mFkWh4eZZXF4mFkWh4eZZXF4mFkWh4eZZXF4mFkWh4eZZXF4mFkWh4eZZXF4mFkWh4eZZak8PCQNkDRX0p/S+ChJd0l6VNLlkgZXXYOZ9b6+2PM4BZhfGv8hcE5EjAaeBU7sgxrMrJdVGh6SRgIfA36TxgUcBFyZukwBjqyyBjOrRtV7HpOA04BX0/jWwMqIWJvGFwPbtTejpPGSmiU1t7S0VFymmXVXZeEh6ePAioiYkzN/REyOiKaIaGpoaOjl6syspwZWuOz9gE9IOgwYAmwO/AwYJmlg2vsYCSypsAYzq0hlex4R8Y2IGBkRjcDRwM0RcRwwEzgqdRsHTKuqBjOrTj0+53E68DVJj1KcAzm/DjWYWQ9VedjymoiYBcxKwwuAMX2xXjOrjj9hamZZHB5mlsXhYWZZHB5mlsXhYWZZHB5mlsXhYWZZHB5mlsXhYWZZHB5mlsXhYWZZagoPSfvV0mZmG45a9zx+UWObmW0gOv1WraR9gfcDDZK+Vpq0OTCgysLMbN3W1VfyBwNDU7/NSu3P8/oFfcxsA9RpeETELcAtki6IiMf7qCYz6wdqvRjQxpImA43leSLioCqKMrN1X63hcQXwS4rfX3mlunLMrL+oNTzWRsR5lVZiZv1KrW/VXivpy5JGSNqq9VZpZWa2Tqt1z2Nc+ntqqS2At/duOWbWX9QUHhExqupCzKx/qSk8JH2uvfaIuLB3yzGz/qLWw5a9SsNDgIOBuwGHh9kGqtbDlq+WxyUNAy6roiAz6x9yv5L/AtDpeRBJQyTNlvQ3SfMkfTu1j5J0l6RHJV0uaXBmDWZWR7We87iW4t0VKL4Q905gahezvQwcFBGrJQ0C/iLpeuBrwDkRcZmkXwInAv4MiVk/U+s5jx+XhtcCj0fE4s5miIgAVqfRQekWwEHAsal9CjARh4dZv1PTYUv6gtyDFN+s3RL4Ry3zSRog6R5gBTAd+DuwMiLWpi6Lge06mHe8pGZJzS0tLbWszsz6UK1XEhsLzAY+DYwF7pLU5VfyI+KViNgDGAmMAXaptbCImBwRTRHR1NDQUOtsZtZHaj1sOQvYKyJWAEhqAG4Crqxl5ohYKWkmsC8wTNLAtPcxEljS/bLNrN5qfbdlo9bgSJ7ual5JDektXSRtAhwKzAdm8vqFhMYB07pTsJmtG2rd87hB0o3ApWn8M8B1XcwzApgiaQBF0EyNiD9JegC4TNL3gLnA+Rl1m1mddXUN09HA8Ig4VdIngf3TpDuAizubNyLuBfZsp30BxfkPM+vHutrzmAR8AyAirgKuApC0W5p2eIW1mdk6rKtzHsMj4r62jamtsZKKzKxf6Co8hnUybZNerMPM+pmuwqNZ0kltGyV9AZhTTUlm1h90dc5jAnC1pON4PSyaKH7P5d8qrMvM1nFd/W7LcuD9kg4E3p2a/y8ibq68MjNbp9V6PY+ZFB/uMjMD8q/nYWYbOIeHmWVxeJhZFoeHmWVxeJhZFoeHmWVxeJhZFoeHmWVxeJhZFoeHmWVxeJhZFoeHmWVxeJhZFoeHmWVxeJhZFoeHmWVxeJhZFoeHmWVxeJhZlsrCQ9L2kmZKekDSPEmnpPatJE2X9Ej6u2VVNZhZdarc81gL/FdE7ArsA/ynpF2BM4AZEbEjMCONm1k/U1l4RMTSiLg7Da8C5gPbAUcAU1K3KcCRVdVgZtXpk3MekhqBPYG7KH7/dmmatAwY3sE84yU1S2puaWnpizLNrBsqDw9JQ4E/ABMi4vnytIgIINqbLyImR0RTRDQ1NDRUXaaZdVOl4SFpEEVwXBwRV6Xm5ZJGpOkjgBVV1mBm1ajy3RYB5wPzI+KnpUnXAOPS8DhgWlU1mFl1avq5yUz7AZ8F7pN0T2o7E/gBMFXSicDjwNgKazCzilQWHhHxF0AdTD64qvWaWd/wJ0zNLIvDw8yyODzMLIvDw8yyODzMLIvDw8yyODzMLIvDw8yyODzMLIvDw8yyODzMLIvDw8yyODzMLIvDw8yyODzMLIvDw8yyODzMLIvDw8yyODzMLIvDw8yyODzMLIvDw8yyODzMLIvDw8yyODzMLEuVv1X7W0krJN1fattK0nRJj6S/W1a1fjOrVpV7HhcAH2nTdgYwIyJ2BGakcTPrhyoLj4i4FXimTfMRwJQ0PAU4sqr1m1m1+vqcx/CIWJqGlwHDO+ooabykZknNLS0tfVOdmdWsbidMIyKA6GT65IhoioimhoaGPqzMzGrR1+GxXNIIgPR3RR+v38x6SV+HxzXAuDQ8DpjWx+s3s15S5Vu1lwJ3ADtLWizpROAHwKGSHgEOSeNm1g8NrGrBEXFMB5MOrmqdZtZ3/AlTM8vi8DCzLA4PM8vi8DCzLA4PM8vi8DCzLA4PM8vi8DCzLA4PM8vi8DCzLA4PM8vi8DCzLA4PM8vi8DCzLA4PM8vi8DCzLA4PM8vi8DCzLA4PM8vi8DCzLA4PM8vi8DCzLA4PM8vi8DCzLA4PM8vi8DCzLHUJD0kfkfSQpEclnVGPGsysZ/o8PCQNAP4X+CiwK3CMpF37ug4z65l67HmMAR6NiAUR8Q/gMuCIOtRhZj0wsA7r3A5YVBpfDOzdtpOk8cD4NLpa0kN9UJv1vm2Ap+pdhL2Rau/6to4m1CM8ahIRk4HJ9a7DekZSc0Q01bsO6331OGxZAmxfGh+Z2sysH6lHePwV2FHSKEmDgaOBa+pQh5n1QJ8ftkTEWklfAW4EBgC/jYh5fV2H9Rkfeq6nFBH1rsHM+iF/wtTMsjg8zCyLw6Ofk7S1pHvSbZmkJaXxwW36TpD0lhqWOUvSm95eTe0PlZZ/ZS9twwWSjuqNZVnfWWc/52G1iYingT0AJE0EVkfEjzvoPgG4CHixB6s8LiKaezC/rSe857EeknSwpLmS7pP0W0kbSzoZ2BaYKWlm6neepGZJ8yR9uwfruyAt605JCyQdkNY7X9IFpX6rJZ2T1jdDUkONtR8k6Y+lPodKujoNf0jSHZLulnSFpKGp/X2SbpE0R9KNkkak9pMlPSDpXkmX5W6zARHh23pyAyYCZ1N8/H+n1HYhMCENLwS2KfXfKv0dAMwC3pPGZwFN7Sx/FvAQcE+6/Si1X0DxHSVRfE/peWA3in9Oc4A9Ur+g2HMB+BZwbmn+o4Ah7dWelvsg0JDaLwEOp/jo+63Apqn99LTcQcDtpf6fofhIAMCTwMZpeFi9H7P+fPOex/pnAPBYRDycxqcA/9pB37GS7gbmAu+i+JZzV46LiD3S7dRS+7VRvCLvA5ZHxH0R8SowD2hMfV4FLk/DFwH7t1n2zu3Vnpb7e+B4ScOAfYHrgX1SzbdJugcYR/FdjJ2BdwPTU/vZFJ9kBrgXuFjS8cDaGrbXOuBzHhsoSaOArwN7RcSz6fBiSA8W+XL6+2ppuHW8o+dZdz5k9DvgWuAl4IooPmwoYHpEHFPuKGk3YF5E7NvOcj5GEaaHA2dJ2i0iHCIZvOex/nkFaJQ0Oo1/FrglDa8CNkvDmwMvAM9JGk5xfZWqbURxeAJwLPCXNtMfooPaI+JJikOOsymCBOBOYL/W/pI2lbRTWk6DpH1T+yBJ75K0EbB9RMykOMTZAhja+5u5YfCex/rnJeAE4ApJAym+S/TLNG0ycIOkJyPiQElzKc4lLAJuq3H5F0tak4afiohDulHbC8AYSWcDKyjORbwmIl6S1FHtABdTnMeYn/q3SPo8cKmkjVOfsyPi4fTW788lbUHxPJ8EPAxclNoE/DwiVnajfivxx9Otz0haHRHZ/+klnQvMjYjze7Esy+TwsD7Tk/CQNIdiz+XQiHi5q/5WPYeHmWXxCVMzy+LwMLMsDg8zy+LwMLMsDg8zy/L/mvgLGR65MI4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10" descr="data:image/png;base64,iVBORw0KGgoAAAANSUhEUgAAAhIAAAFNCAYAAABVDYYAAAAAOXRFWHRTb2Z0d2FyZQBNYXRwbG90bGliIHZlcnNpb24zLjkuNCwgaHR0cHM6Ly9tYXRwbG90bGliLm9yZy8ekN5oAAAACXBIWXMAAAsTAAALEwEAmpwYAABXTUlEQVR4nO3de3xcVb3//9cnadKkKWnaJKSkSZuQJmC5FSjlqqJ4EBEFFRVEAUUBwdvxBp7D98g56k8QEUVEkIuAFy6CCqKCyEUEWkq5tgXaJk3alLRpmyYNaZMmTT+/P9aaMA2TS9PZMyvJ5/l4zCMza+/Zs2bemZk1e6+9lqgqxhhjjDEjkZHuChhjjDFm9LKGhDHGGGNGzBoSxhhjjBkxa0gYY4wxZsSsIWGMMcaYEbOGhDHGGGNGzBoSxowhInKWiPxjmOueKyJPRV2nZBKRv4vIOQMsqxARFZEJqa5XgrqoiMxOdz2MSQVrSBgzABHpiLvsFJHOuNtnJekxbhOR7n6PlTnAugm/+EWkQUTeB6Cqv1PVE5NRt5Eazpeor3Ps9Wz2r8Pkobatqh9Q1dtHWK+Gfhl2iMh1I9mWMeYt1pAwZgCqOjl2AdYAH4or+10SH+pH8Y+lqr1J3HbIPuRf28OAecBlqXrMuMuXUvCYxoxp1pAwZjeJyEQR+amINPnLT0Vkol92vIisFZH/EpFN/ldwUvZeDLNuu+y1EJETRWS5iGwRketF5F8i8vl+9/mxiLSKSL2IfCCufIqI3CIi60TkDRH5fmxviYjM9tva4p/n3b78SX/3l/0v/k8OVWdVfQP4O3CgiEwVkQdFZKOv04MiUhZXpydi9ReRTF/3TSKyCvjgHr5uT4vINSLSJiKrROQYX94oIhviD6n4PSg3iMgjIvKmfy1mDbDtKSJyh39Oq0XkMhHJEJFsEdksIgfFrbu3iGwTkWJ/+xQRecnX6RkROThu3VIRuc9vt15EvhK3bL6ILBaRdr/H5ycjfW2MGYo1JIzZff8NHAXMBQ4B5rPrr+npQBEwAzgH+JWI7DfI9i7yXyjPi8jHklVJESkC7gW+AxQCy4Fj+q12pC8vAn4E3CIi4pfdBuwAZgOHAicCsUbI94B/AFOBMuDnAKr6Lr/8EP+L/+5h1LMcOBl4EfeZ9GtgFjAT6AQGOvzwBeAUX7d5wOlDPdYQjgRewb1WvwfuAo7APf9PA9f1O/xyFu51KAJeAgbaS/VzYAqwL/Bu4Gzgs6ra7R/j03Hrngk8qqobReRQ4FbgAl+nG4EHfEM2A/gL8DLu/+wE4Gsi8n6/nZ8BP1PVfKAKuGckL4gxw6KqdrGLXYa4AA3A+/z1OuDkuGXvBxr89eNxX755ccvvAf7fANs9DPclMQH3ZfomcOwA657rt93W77Izrm7nAk/562cDC+LuL0Aj8Pm4dWvjlk8CFNcQKgG2A7lxy88EHvfX7wB+BZQlqKcCs4fxenb4+q8Gro9/rLj15gKtcbefiKv/Y8CFcctO9I89YRiPGbt8Ie61WBm37kF+WyVxZS3AXH/9NuCuuGWTgV6gPP41ADKBbmBO3LoXAE/460fiDpuJv70Y+IS//kvge/2ew3JcY+RIYE2/Zd8Bfu2vPwn8L1CU7veOXcb+xfZIGLP7SnFffjGrfVlMq6puHWR5H1V9QVVbVHWHqv4N96v2o4M89kJVLYi/4L6IBqpnY9xjKbC23zrr45Zv81cn4/YIZAHr/G71Ntwv4r39Ot/GNUwWicgyEfncQBUWd6ZFok6qp/nnMEtVL1LVThGZJCI3+kMA7bgvxAJJ3AF1l+fHrpkM5LR+r99Nccua4653Aqhq/7L4PRLxr20HsJm351yEex37/7/M8Pd7FtgGHC8i++MaHw/49WYB34i9/j6Dcv8Ys4DSfsv+C9cABDgPqAFeF5HnROSUIV4XY0Ys7adJGTMKNeE+yJf52zN9WcxUEcmLa0zMBJYOc9uK+4JOhnW4ww4A+EMWZQOvvotG3B6JIlXd0X+hqq7HHVpARI4D/ikiT6pqbYJ1P9C/bBDfAPYDjlTV9SIyF3fII9Frsg73xRozczceJxn6Htsf8pjGrv8HAJuAHtz/y6u+bCbwRtw6t+MOb6wH7lXVLl/eCPxAVX/Q/4FF5GigXlWrE1VMVVcCZ/pDIB8F7hWRwn4NXGOSwvZIGLP77gQuE5Fi3w/hf4Df9lvnf31nunfijuP/IdGGROR0EZnsO9+diPtCeSDRuiPwV+AgETlN3NgKF+MOWwxJVdfh+kBcLSL5vn5VIvJuX++Px3WCbMU1gHb62824/gAjsRful3+biEwDvjvIuvcAXxGRMhGZClw6wsccqZNF5DgRycb1lVioqvF7SFB3Bs49wA9EZC/fIfPr7Pr/8lvgI7js74grvwm4UESOFCdPRD4oInsBi4A3ReQSEckV1/H0QBE5AkBEPi0ixaq6E3cIB97Kx5iksoaEMbvv+7hj2a8AS4AXfFnMetyXaxPuUMWFqvr6ANv6Ku7XaRtwFe6Y/RPJqKSqbgI+jutE2QLM8fXePsxNnA1k435Jt+I6bu7jlx0BPCsiHbiGz1dVdZVfdjlwu9/l/ondrPZPgVzcL/mFwEODrHsT8DCuw+ELwB+Hsf2/yK7jSPxpN+sX7/e4hs5m4HB27TQZ78vAVmAV8JS/362xhb7x8QKuMfbvuPLFuL0+1+Fe/1pcX45YA+UUXB+SetzrdTOuUyfAScAyn8/PgDNUtXMPnqsxA4p18DHGJIGIHA/8VlWHewghZfxu7rXAWar6eLrrM5qJyG3AWlVNytgXInIr0JSs7RmTStZHwpgxzJ8O+CzucMG3cH0NFqa1UmYXIlKB68dwaJqrYsyI2KENY8a2o3Gnq24CPoQ7a8F2cQdCRL6H64h7larWp7s+xoyEHdowxhhjzIjZHgljjDHGjJg1JIwxxhgzYtbZ0isqKtKKioqkbW/Hjh1MmGAvb2gsl/BYJmGyXMKT7Eyef/75TapavKfbsf8Sr6KigsWLFydte93d3WRnZydteyY5LJfwWCZhslzCk+xMRGQ4w8oPyQ5tRKStrS3dVTAJWC7hsUzCZLmEJ9RMrCERkVADH+8sl/BYJmGyXMITaibWkDDGGGPMiFlDIiIlJSVDr2RSznIJj2USJsslPKFmYg2JiLgZm01oLJfwWCZhslzCE2om1pCIyPr169NdBZOA5RIeyyRMlkt4Qs3EGhLGGGOMGbHIGhIicquIbBCRpXFld4vIS/7SICIvxS37jojUishyP2NhrPwkX1YrIpfGlVeKyLO+/G4RyfblE/3tWr+8IqrnmNCiN+Cyx6j+6Uq47DF32wQjPz8/3VUw/VgmYbJcwhNqJlHukbgNOCm+QFU/qapzVXUucB/wRwARmQOcARzg73O9iGSKSCbwC+ADwBzgTL8uwJXANao6G2gFzvPl5wGtvvwav15qLHoDfr8ENnciAJs73W1rTASjsLAw3VUw/VgmYbJcwhNqJpE1JFT1SWBzomXieox8ArjTF50K3KWq2/1UurXAfH+pVdVVqtoN3AWc6u//XuBef//bgdPitnW7v34vcIKkqofKA8uhu3fXsu5eV26CUF9vMzWHxjIJk+USnlAzSdcQ2e8EmlV1pb89A1gYt3ytLwNo7Fd+JFAItKnqjgTrz4jdR1V3iMgWv/6m/pUQkfOB8wHKyspYsWIFAEVFReTk5LB27VoA8vLyKC0tZeVKV92MjAxmz57NmjVr6OrqAmDWrFlkx/ZE9KObO1nX1ERJSQl1dXUAZGZmUlVVRUNDA93d3YAbprutra1v0JGSkhJEpK+DTX5+PoWFhX3/TFlZWVRWVlJfX09PTw8AlZWVtLS00N7eDsD06dNRVZqbmwEoKCigoKCAhoYGALKzs6moqKCuro7eXtcIqqqqorm5mY6ODgBKS0vp6elh48aNAEydOpX8/HxWr3ajq+bk5DBz5kxqa2vZuXMnANXV1TQ1NbF161Zir29XVxebNrkYCgsLmTRpEo2NLt7c3FzKy8v7MgCoqamhsbGRzs5OAMrLy9m2bRstLS0jzmnHjh1s3LiR1tZWAIqLi8nKyqKpqQmAyZMnW04pzim2Xv/3U3t7u+WUxpza29tR1SE/9yyn1OW0adOmEX8/JcopWURVk7axt23c9U94UFUP7Ff+S9yehqv97euAhar6W3/7FuDvfvWTVPXzvvwzuIbE5X792b68HPi7qh7o+2ScpKpr/bI64EhVfVtDIt68efN0j+fauOwxdzijv0lZ8OMT92zbJinq6+uprKxMdzVMHMskTJZLeJKdiYg8r6rz9nQ7KT9rQ0QmAB8F7o4rfgMoj7td5ssGKm8BCvy24st32ZZfPsWvH70P7wfZmW8v39YDdy+F3p0pqYYZmH0whscyCZPlEp5QM0nH6Z/vA16P7THwHgDO8GdcVALVwCLgOaDan6GRjeuQ+YC63SiPA6f7+58D3B+3rXP89dOBxzTK3S7x5s+ATx0E03JRgGm5cGw5TMiAf62Ga5+FN7enpComsVCPMY5nlkmYLJfwhJpJZH0kRORO4HigSETWAt9V1VtwjYE749dV1WUicg/wKrADuFhVe/12vgQ8DGQCt6rqMn+3S4C7ROT7wIvALb78FuA3IlKL6+x5RlTPMaH5M2D+DFauWEFNTY0rO6YcfvU8rNwMVz4NFxwO5VNSWi3jxI6pmnBYJmGyXMITaiaRNSRU9cwBys8doPwHwA8SlP8N+FuC8lW4szr6l3cBH9/N6karcipccpxrTDS0wdUL4OxD4LB90l0zY4wxZo9E2tlyNElKZ8s4PT09b+8V29MLdy6Fhf6ozkmz4ZQayAhz/PSxKGEuJq0skzBZLuFJdiajtrPleBE7pWoXWZnwmYPh9Dmu8fBQLdywGDrD3F01FiXMxaSVZRImyyU8oWZiDYmIxM5nfhsReG8lfGk+5GXB0g3wo6ehuSO1FRynBszFpI1lEibLJTyhZmINiXTZv8j1myjdC5q3usbEsg3prpUxxhizW6whEZHp06cPvVLRJPjmMXBICXTugOufg0fqwPqtRGZYuZiUskzCZLmEJ9RMrCERkWF3Ys2ZAF843HW6VOBPr8NtL719zg6TFNa5ODyWSZgsl/CEmok1JCISG+N9WDIETq6G8w+HiZnwXBNc/Uzi4bbNHtmtXExKWCZhslzCE2om1pAIydzp8K1j3SGPxna48imoTTiBqjHGGBMEa0hEpKCgYGR3LN0LLjnWdcZ8sxt+thCeWpPUuo1nI87FRMYyCZPlEp5QM7GGRET2KPC8bLj4CDihEnoVfr8E7lwCO2zSrz0V6htxPLNMwmS5hCfUTKwhEZHYvPcjlpkBH5vjhtKekAH/XmOTfiXBHudiks4yCZPlEp5QM7GGROiOKoOvHw1TJrr+Elc8BY1b0l0rY4wxBrCGRGSys7OTt7GKArj0OKgsgNYu+PEzsLgpedsfR5Kai0kKyyRMlkt4Qs3EJu3ykj1pVyR6euGupbDAT/p1YhV8eD+b9MsYY8xus0m7AldXV5f8jWZlwqcPhk8c4BoP/6iDXz5nk37thkhyMXvEMgmT5RKeUDOxhkREensjGplSBI6vgC/7Sb+WbbRJv3ZDZLmYEbNMwmS5hCfUTKwhMVrt5yf9muEn/bryaTeTqDHGGJNC1kfCS3Yfid7eXjIzM5O2vQF17YDfvAwvrgfB9Zk4scrtuTBvk7JczLBZJmGyXMKT7Eysj0TgUjYmes4E+Pxh8CE/6df9y+HWF23SrwGEOlb9eGaZhMlyCU+omVhDIiIdHSnssyACH6iGC+e5hsXz69ykXy3bUleHUSKluZhhsUzCZLmEJ9RMrCExlhxcAt86Bopjk349DStb0l0rY4wxY5g1JCJSWlqangfeZy/XCXNOMXR0w8+ehSdXp6cuAUpbLmZAlkmYLJfwhJqJNSQi0tOTxrEdJmXBRUfA+/aFneoGsfq9TfoFac7FJGSZhMlyCU+omVhDIiIbN25MbwUyBD76Djh3LmRluKnIf7YQ2sf3pF9pz8W8jWUSJsslPKFmYg2JsW7+DDfpV0EO1LW6Sb/W2KRfxhhjksMaEhGZOnVquqvwllkFcMmxsO9UaOtyZ3Q890a6a5UWQeViAMskVJZLeELNxBoSEcnPz093FXY1JQe+eiQcWw49O+HXL8EfX3N9KMaR4HIxlkmgLJfwhJqJNSQisnp1gGdKZGXCpw6CMw50fSj+uQqufw62hdmBJwpB5jLOWSZhslzCE2om1pAYb0TgXbPgK0fC5Gx4dSNc+RSsezPdNTPGGDMKWUMiIjk5OemuwuBqCl2/ibJ82LgNrnoGXglz+NVkCj6XccgyCZPlEp5QM7FJu7xkT9o1amzfAb95BV5Y5yb9OqUGTpptk34ZY8wYZ5N2Ba62tjbdVRieiRPgvEPdrKEAf1kBt7zoGhhj0KjJZRyxTMJkuYQn1Ewia0iIyK0iskFElvYr/7KIvC4iy0TkR76sQkQ6ReQlf7khbv3DRWSJiNSKyLUi7qeyiEwTkUdEZKX/O9WXi1+vVkReEZHDonqOg9m5cxSNIini9kLEJv16YR38eGxO+jWqchknLJMwWS7hCTWTKPdI3AacFF8gIu8BTgUOUdUDgB/HLa5T1bn+cmFc+S+BLwDV/hLb5qXAo6paDTzqbwN8IG7d8/39zXAcVALfPhb2zoM33nSDV62wSb+MMcYMLLKGhKo+CWzuV/xF4ApV3e7X2TDYNkRkHyBfVReq68xxB3CaX3wqcLu/fnu/8jvUWQgU+O2kVHV1daofMjmmT3aNiQOKYWsPXPssPNEAY6QvzajNZQyzTMJkuYQn1ExS3UeiBniniDwrIv8SkSPillWKyIu+/J2+bAawNm6dtb4MoERV1/nr64GSuPs0DnCflGlqakr1QybPpCz44hFwYpUbsOqeZfC7JdDTm+6a7bFRncsYZZmEyXIJT6iZTEjD400DjgKOAO4RkX2BdcBMVW0RkcOBP4vIAcPdqKqqiOz2T2YROR93+IOysjJWrFgBQFFRETk5Oaxd69oweXl5lJaWsnLlSgAyMjKYPXs2a9asoaurC4BZs2bR3t5Oa2srAJ2dnUyZMqUv+MmTJ1NSUkJdXR0AmZmZVFVV0dDQQHd3NwAVFRW0tbXR1tYGQElJCSLC+vXrATeqWWFhIfX19QBkZWVRWVlJfX1936xwlZWVtLS00N7eDsD06dNRVZqb3amdBQUFFBQU0NDQAEB2djYVFRXU1dXR2+saClVVVTQ3N9MxJ4O9MqYz/dENyDONdNZvpOmUfcgvKyY/P79vcJScnBxmzpxJbW1t3zG86upqmpqa2Lp1K7HXt6uri02bNgFQWFjIpEmTaGx0bb7c3FzKy8v7MgCoqamhsbGRzs5OAMrLy9m2bRstLS0jzmnHjh1kZ2f35VRcXExWVtbozqmjA3BTDPf09PRN7DN16tRRkVNLSwszZswY9P1kOaU+p/b29t3+3LOcos1p06ZN5Obm7vH3UyynZIn09E8RqQAeVNUD/e2HgCtV9XF/uw44SlU39rvfE8A3gTeAx1V1f19+JnC8ql4gIsv99XX+0MUTqrqfiNzor9/p79O33mB1TfbpnytWrKCmpiZp20urNVvgxsXQ2uUm/zr/cKgoSHetRmRM5TJGWCZhslzCk+xMRuvpn38G3gMgIjVANrBJRIpFJNOX74vrKLnKf/m3i8hR/myNs4H7/bYeAM7x18/pV362P3vjKGDLUI2IKJSVlaX6IaMzcwpcehzMnuYm/frJAnh27dD3C9CYymWMsEzCZLmEJ9RMojz9805gAbCfiKwVkfOAW4F9/SmhdwHn+E6U7wJeEZGXgHuBC1U11lHzIuBmoBaoA/7uy68A/kNEVgLv87cB/gas8uvf5O+fcrFdSmPGXhPdsNrvnAk7dsLtL8N9r0JvmKcjDWTM5TIGWCZhslzCE2omkfWRUNUzB1j06QTr3gfcN8B2FgMHJihvAU5IUK7AxbtV2Qhs2rSJadOmpbsayTUhA848CGbkuw6Yj9a700TPOxTystNdu2EZk7mMcpZJmCyX8ISaiY1saXbfu2bB145yk369vgl+9DQ02aRfxhgzHllDIiKFhYXprkK0Zk9z/SbKY5N+PQ0vr093rYY05nMZhSyTMFku4Qk1E2tIRGTSpEnprkL0puXCN46BeaWwvRdufB7+ttKNPRGocZHLKGOZhMlyCU+omVhDIiKx84THvOxM+OxcOG1/N3vogyvg5hegK8xJv8ZNLqOIZRImyyU8oWZiDQmz50TcKJgXHQG5E+Cl9W7Sr01jb9IvY4wxu7KGRERyc3PTXYXUO2BvN09HSZ7rfHnlU64zZkDGZS6Bs0zCZLmEJ9RMIh3ZcjRJ9siW41pnD/z6JVi6ATIEPvYOOL7C7bkwxhgThNE6suW4ET92+riTmwUXzoP3+0m//vAq/OaVICb9Gte5BMoyCZPlEp5QM7GGhIlGhsCp+8PnDoWsDFi4Fq5Z6IbYNsYYM2ZYQ8JEa14pfPMYd6poQ5vrN1Hfmu5aGWOMSRLrI+FZH4mIvbndnRa6crMfavtAOLo83bUyxphxy/pIBC7U833TJjbp17tnuUm/fvMK/GFZyif9slzCY5mEyXIJT6iZWEMiIp2dnemuQngyM+CTB8KnDoJMgccb4LpF0NGdsipYLuGxTMJkuYQn1EysIWFS77iZbtKv/ImwvMX1m3ijPd21MsYYMwLWkIhIebkd/x9U1TQ3eNXMKdDS6UbCfHFd5A9ruYTHMgmT5RKeUDOxhkREtm2z4aGHNC0Xvn40zJ/hJv266QU3V0eEk35ZLuGxTMJkuYQn1EysIRGRlpaWdFdhdMjOhHMOgY++w0369beVcNPzkU36ZbmExzIJk+USnlAzsYaEST8ReN++cPF8N+nXy81w1dOwcWu6a2aMMWYI1pCISFFRUbqrMPrMKYZLjoPpk2FdB1z5NLy2MakPYbmExzIJk+USnlAzsYZERHJyctJdhdFp7zz41jFw0N6wrcedHvroKkjSwGmWS3gskzBZLuEJNRNrSERk7dq16a7C6JWbBRfMgw/MBgXuew3ueDkpk35ZLuGxTMJkuYQn1EysIWHClCHwof3g84e5DpnPvgE/WWCTfhljTGCsIRGRvLy8dFdhbDhsHzfpV2EurN4CVzwFq0Y+6ZflEh7LJEyWS3hCzcQm7fKSPWmXqiIiSdveuNfR7Sb9WtHiJv0640A4ZvcHZ7FcwmOZhMlyCU+yM7FJuwK3cuXKdFdhbJmcDV+eD8dXuEm/fvsK3L10tyf9slzCY5mEyXIJT6iZWEPCjB6ZGfCJA+DTB7u9Ev9aDdc+m9JJv4wxxuzKGhIRyciwlzYyx5S/NenXys1u0q+1w5v0y3IJj2USJsslPKFmYn0kvGT3kTAp0NYFNy52nTCzM+HsQ1znTGOMMUOyPhKBW7NmTbqrMPYV5LhJv46cAd29rjPmX5YPOumX5RIeyyRMlkt4Qs3EGhIR6eqy8Q5SIsvviTh9jpv06++1bi9FZ0/C1S2X8FgmYbJcwhNqJtaQMKOfCLy3Er40HyZlwZINcNUzsMEm/TLGmKhZQyIis2bNSncVxp93FMMlx8I+k2F9h+uE+equk35ZLuGxTMJkuYQn1Ewia0iIyK0iskFElvYr/7KIvC4iy0TkR3Hl3xGRWhFZLiLvjys/yZfVisilceWVIvKsL79bRLJ9+UR/u9Yvr4jqOQ6mvX14ZxGYJCvOg28dC4eUQOcO+MUieKSub9IvyyU8lkmYLJfwhJpJlHskbgNOii8QkfcApwKHqOoBwI99+RzgDOAAf5/rRSRTRDKBXwAfAOYAZ/p1Aa4ErlHV2UArcJ4vPw9o9eXX+PVSrrV15MM4mz2UMwG+cDicXO0m/frT6/DjZ+C/H6Xou4vgssdg0RvprqXx7L0SJsslPKFmEllDQlWfBDb3K/4icIWqbvfrbPDlpwJ3qep2Va0HaoH5/lKrqqtUtRu4CzhV3Bih7wXu9fe/HTgtblu3++v3AieIjfM6/mQInFIDXzgMMgXq26C1CwHY3Am/X2KNCWOMSYJU95GoAd7pDzn8S0SO8OUzgMa49db6soHKC4E2Vd3Rr3yXbfnlW/z6KVVcXJzqhzSJHLoP5GW/vby7Fx5Ynvr6mLex90qYLJfwhJrJhDQ83jTgKOAI4B4R2TfFdegjIucD5wOUlZWxYsUKAIqKisjJyemb+z0vL4/S0tK+cc4zMjKYPXs2a9as6TsdZ9asWbS3t/ftepo8eTJZWVk0NTX13S4pKaGurg6AzMxMqqqqaGhooLvbDfFcUVFBW1sbbW1tAJSUlCAirF+/HoD8/HwKCwupr68HICsri8rKSurr6+npcac7VlZW0tLS0ncsbfr06agqzc3NABQUFFBQUEBDQwMA2dnZVFRUUFdXR29vLwBVVVU0NzfT0dEBQGlpKT09PWzc6DouTp06lfz8fFavXg1ATk4OM2fOpLa2lp073dwX1dXVNDU1sXWrO3OirKyMrq4uNm3aBEBhYSGTJk2isdG1E3NzcykvL+/LAKCmpobGxkY6OzsBKC8vZ9u2bbS0tOxWTtq+nUS7pHRzJ22trZZTmnPq6elh6tSpg76fiouLLacU55SZmUlBQcFufe5ZTtHm1N3djaru8fdTLKdkiXRkS9/R8UFVPdDffgi4UlUf97frcI2KzwOo6g99+cPA5X4zl6vq+335d3zZFcBGYLqq7hCRo2Prxe6rqgtEZAKwHijWIZ5oske2XLFiBTU1NUnbntkDlz3mDmf0NzETfnyim8PDpI29V8JkuYQn2ZmM1pEt/wy8B0BEaoBsYBPwAHCGP+OiEqgGFgHPAdX+DI1sXIfMB3yj4HHgdL/dc4D7/fUH/G388seGakSYMe7D+7khtPvb3gs/exbe3J76OhljzBgR5emfdwILgP1EZK2InAfcCuzrTwm9CzhHnWXAPcCrwEPAxara6/s4fAl4GHgNuMevC3AJ8HURqcX1gbjFl98CFPryrwN9p4ym0uTJk9PxsCaR+TPgUwfBtFwUYFoufLAapkyE2s1w5dPQuCXdtRy37L0SJsslPKFmYpN2eck+tNHb20tmZoJfwSatdsmlrQt+9Tw0tEFWBnzmEJhXmtb6jUf2XgmT5RKeZGcyWg9tjBuxzkUmLLvkUpAD/3kUHFUGPTvh1hfh/tcHnfTLJJ+9V8JkuYQn1EysIWHGt6xM+MzB8PE5buyJh+vghoEn/TLGGLMra0hExHYJhilhLiLwHj/pV14WLN0AP3oamjtSX8FxyN4rYbJcwhNqJtZHwkt2HwkzSm3a5vZINL0JuRPgc4fCAXunu1bGGJN01kcicLGBT0xYhsylaBJ88xiYO91N+nX9c/CPtyb9Msln75UwWS7hCTUTa0hEJDZqmwnLsHLJmQCfP8zN1aHAn1+HX7/khtU2SWfvlTBZLuEJNRNrSBiTSIa42UMvONyNgLm4Ca5+JvEImcYYM45ZQyIiFRUV6a6CSWC3czlkOnzrWCieBI3tcMVTbhArkzT2XgmT5RKeUDOxhkREYhPQmLCMKJfSveDbx8L+RdDRDT9dCE+uTnrdxit7r4TJcglPqJlYQyIioQY+3o04l7xsuPgIOKHSDVh111L4/RLYsTOp9RuP7L0SJsslPKFmYg0JY4YrMwM+NgfOOQQmZMBTa+BnC6HdJv0yxoxf1pCISElJSbqrYBJISi5HlsHXj3ZDbNe1wpVPwRqb9Guk7L0SJsslPKFmYg2JiIhIuqtgEkhaLhUFcMmxUFkArV3ujI7n3kjOtscZe6+EyXIJT6iZDNqQEJEyEfmmiNwvIs+JyJMicr2IfFBErBEyiPXr16e7CiaBpOYyJQe+dhQcU+4m/fr1S/Cn12zSr91k75UwWS7hCTWTARsDIvJr4FagG7gSOBO4CPgncBLwlIi8KxWVNCZYWZlw1kHwiQPc2BOPrHKjYW6zSb+MMePDhEGWXa2qSxOULwX+KCLZwMxoqjX65efnp7sKJoFIchGB4yvcaaI3PQ+vbnSTfl04D6ZPTv7jjTH2XgmT5RKeUDMZ7PDEagAR2SvRQlXtVtXaSGo1BhQWFqa7CiaBSHOpKYRLj4MZe8GGra4xsaQ5uscbI+y9EibLJTyhZjJYQ+KKfn8BEJECEfl6dFUaG+rr69NdBZNA5LkU+km/DtsHuna4mUQfqrVJvwZh75UwWS7hCTWTwRoSBSJyJfAhEblORPYSkW8Cy4Aw968YE4KJE+C8Q+HD+7nbDyyHW16E7TvSWy9jjInAYH0kaoCdwOtAF/AcsBg4VFU3pKBuo1pWVla6q2ASSFkuInDSbNdv4raX4IV17nDHBYe7vRamj71XwmS5hCfUTEQH2OUqIr9T1bNE5HpVvUhE1gIzVXVMjgk8b948Xbx4cbqrYcaidW/Cjc+7hsTkbDdFeU2YxzqNMeOHiDyvqvP2dDuDHdqI7XWIjf+7eqw2IqIQ6rGs8S4tuezjJ/2aU+wm/br2WfhXg/Wb8Oy9EibLJTyhZjJYQ+Ib8X9V9djoqzN29PTYOAIhSlsuk7LgoiPgffu6AavuXuYm/erpTU99AmLvlTBZLuEJNZPBGhKfEpGMgfZCiEiViBwXUb2MGXsyBD76Djh3LmRlwNON8LNnYUtXumtmjDEjNlhny0LgRRF5Hnge2AjkALOBdwObgEsjr+EoVVlZme4qmASCyGX+DDdQ1Q2LYVUrXPm064Q5qyDdNUuLIDIxb2O5hCfUTAbcI6GqPwMOA+4EioET/O03gM+o6sdUdWVKajkKtbS0pLsKJoFgcpk5xQ1eVTUV2rrgJwvg2bXprlVaBJOJ2YXlEp5QMxl04i1V7VXVR1T1clW9QFW/pqo3quqaVFVwtGpvb093FUwCQeWSPxG+ehQcN9NN+nX7y/DH8TfpV1CZmD6WS3hCzcRm8DQmnSZkwKcOgjMOdH0o/rkKfrHIJv0yxowa1pCIyPTp09NdBZNAsLm8axZ89Ug3zsRrm+DKp9z4E+NAsJmMc5ZLeELNZMiGhIhkpqIiY81AA32Z9Ao6l+pCuORYKMuHjdvcpF+vjP1Jv4LOZByzXMITaibD2SOxUkSuEpE5kddmDGluHvtfAKNR8LnEJv06fB/Y3uvO7Pj7yjE9eFXwmYxTlkt4Qs1kOA2JQ4AVwM0islBEzhcRm7TLmKhkZ8LnDoVT9wMB/rICbn7BzSZqjDGBGbIhoapvqupNqnoMcAnwXWCdiNwuIrMHup+I3CoiG0RkaVzZ5SLyhoi85C8n+/IKEemMK78h7j6Hi8gSEakVkWtFRHz5NBF5RERW+r9Tfbn49WpF5BUROWzEr84eKCgoSMfDmiGMmlxE4P2z4cJ5kDMBXlwPP34GNm1Ld82SbtRkMs5YLuEJNZNh9ZEQkQ+LyJ+AnwJXA/sCfwH+NshdbwNOSlB+jarO9Zf4+9fFlV8YV/5L4AtAtb/Etnkp8KiqVgOP8tbgWB+IW/d8f/+UCzXw8W7U5XJQies3sXceNL3pOmEu35TuWiXVqMtknLBcwhNqJsPqIwGcClylqoeq6k9UtVlV7wUeGuhOqvoksHlPKici+wD5qrpQXS+TO4DT/OJTgdv99dv7ld+hzkKgwG8npRoaGlL9kGYYRmUuJZPdpF8HFMPWHvj5Ini8fsz0mxiVmYwDlkt4Qs1k0IaEP2PjNlU9T1Wf6b9cVb8ygsf8kj/kcGvscIRXKSIvisi/ROSdvmwGED/c31pfBlCiquv89fVASdx9Gge4jzGj06Qs+OIRcGKVG7DqD6/Cb1+xSb+MMWk32FwbqGqviJwC/F+SHu+XwPcA9X+vBj4HrANmqmqLiBwO/FlEDhjuRlVVRWS3f56JyPm4wx+UlZWxYsUKAIqKisjJyWHtWteGycvLo7S0lJUr3YjgGRkZzJ49mzVr1tDV5SZcmjVrFu3t7bS2tgKwY8cOOjo6aGpqAmDy5MmUlJRQV1cHQGZmJlVVVTQ0NNDd3Q1ARUUFbW1ttLW1AVBSUoKIsH79egDy8/MpLCzsm0o2KyuLyspK6uvr+2aFq6yspKWlpW8EtOnTp6Oqfb19CwoKKCgo6GvZZmdnU1FRQV1dHb297kupqqqK5uZmOjo6ACgtLaWnp4eNGzcCMHXqVPLz81m9ejUAOTk5zJw5k9raWnbudHO8VVdX09TUxNatW4m9vl1dXWza5HbLFxYWMmnSJBobXZsvNzeX8vLyvgwAampqaGxspLOzE4Dy8nK2bdvWN0zsSHISETZu3NiXU3FxMVlZWaMnp4OymJQ5nZJHmslYsJbuNZtpPLmE3rwJozan2Os42Ptp1OU0Bt5P27ZtQ1V363PPcoo2p9bWVjZv3rzH30+xnJJFhjovVUSuAbKAu4GtsXJVfWHIjYtUAA+q6oG7uewJ4Ju4eT0eV9X9ffmZwPGqeoGILPfX1/lDF0+o6n4icqO/fqe/T996g9V13rx5unjx4qGekjFhWLMFblwMrV0wZSJcMA8qCtJdK2PMKCIiz6vqvD3dznD6SMwFDsDtlbjaX348kgfr11fhI8BSX14cG/hKRPbFdZRc5b/820XkKH+2xtnA/f7+DwDn+Ovn9Cs/25+9cRSwZahGRBRiLXATljGTS2zSr9nTYMt2N+nXwtE56deYyWSMsVzCE2omgx7aAFDV94xkwyJyJ3A8UCQia3GnjR4vInNxhzYagAv86u8C/k9EeoCdwIWqGuuoeRHuDJBc4O/+AnAFcI+InAesBj7hy/8GnAzUAtuAz46k/nsqtrvMhGVM5bLXRPjKkfCHZfDvNXDHy7C2HT6yP2SOntHvx1QmY4jlEp5QMxmyIQEgIh/E7ZXIiZWp6qD9JlT1zATFtwyw7n3AfQMsWwy87fCHqrbgpjbvX67AxYPVzZgxY0IGnHmQG1b77mXwWL07TfS8QyEvO921M8aMA8PpI3EDMAl4D3AzcDqwSFXPi756qZPsPhK9vb1kZto0JaEZ07nUboabnoc3u6FokhvMqnSvdNdqSGM6k1HMcglPsjNJZR+JY1T1bKBVVf8XOBqo2dMHHutCHRN9vBvTucyeBpccB+X5bgTMq56Gl9anu1ZDGtOZjGKWS3hCzWQ4DYlO/3ebiJQCPUDKB3gabWKnEJmwjPlcpuXCN46BI0rdpF+/eh7+usKNPRGoMZ/JKGW5hCfUTIbTkHhQRAqAq4AXcJ0k74ywTsaYPZGdCefOdZ0uBfjrSnfIwyb9MsZEYMg+ErusLDIRyFHVLdFVKT2S3Ueio6ODyZMnJ217JjnGXS7LNsCtL0LnDthnsus3UZyX7lrtYtxlMkpYLuFJdibJ6iMx4FkbIvLRQZahqn/c0wcfy2IjrpmwjLtcDtjbzdNxw2JY1wFXPg2fPwz2L0p3zfqMu0xGCcslPKFmMtihjQ8Ncjkl+qqNbrFhVU1YxmUusUm/DtwbtvXAz591p4kGMunXuMxkFLBcwhNqJgPukVDVtAzkZIyJQG6WO6zx4Ap4qBbufdUNXnXmgZBlp/gZY0YusgGpxrupU6cOvZJJuXGdS4bAh/eDGXvBb15xQ2qv74DzD4eCnKHvH5FxnUnALJfwhJrJkGdt+AGpPgl8GdcH/OPArIjrNerl5+enuwomAcsFOLwUvnG0O1W0oQ2ufArqW9NWHcskTJZLeELNxAakikhsqlkTFsvFK58ClxwL1X7Sr2sWwoLGtFTFMgmT5RKeUDOxAamMGa9ik369exbs2OkOd9yzDHp3prtmxphRZKQDUv0+wjqNCTk56TvmbAZmufSTmQGfPBDOOggyBZ5ogOsWQUd3yqpgmYTJcglPqJnYgFResgekMmbUqdsMN70A7duhMBcumOdmFTXGjEmRT9olIkeIyPS422cD9wDfE5Fpe/rAY11tbW26q2ASsFwGUTXN9ZuYOQVaOuHHz8CL6yJ/WMskTJZLeELNZLBDGzcC3QAi8i7gCuAOYAvwq+irNrrt3GnHmUNkuQxhai58/WiYPwO6e90eir8sj3TSL8skTJZLeELNZLCGRKaqbvbXPwn8SlXvU9X/B8yOvmrGmLTIzoRzDoGPvcOd8P33WjeLaGeYw/MaY9Jr0IaEiMQGrDoBeCxu2bAGshrPqqur010Fk4DlMkwicMK+cPF8yJ0ArzS7Qx0btib9oSyTMFku4Qk1k8EaEncC/xKR+3GngP4bQERm4w5vmEE0NTWluwomActlN80phkuOczOHrutwg1e9mtzx/i2TMFku4Qk1kwEbEqr6A+AbwG3AcfrW6R0ZuFEuzSC2bk3+Lzez5yyXEdg7D751LBxc4qYj/8Ui+OeqpE36ZZmEyXIJT6iZDHqIQlUXJihbEV11jDFBypng5uT46wrXZ+KPr7lJvz51kOtTYYwZt4YzIJUZgbKysnRXwSRgueyBDIEP7QdfOAwmZsKiN+AnC6C1c+j7DsIyCZPlEp5QM7GGRES6urrSXQWTgOWSBIfuA984xg1atWYLXPm0G8xqhCyTMFku4Qk1E2tIRGTTpk3proJJwHJJkrJ81wmzptCNhPnThfD0mhFtyjIJk+USnlAzsYaEMWZkJmfDl+fD8RXQq/C7JXD3Upv0y5hxxhoSESksLEx3FUwClkuSZWbAJw6AzxwMEzLgX6vh2mfhze3D3oRlEibLJTyhZmINiYhMmjQp3VUwCVguETm6HP7zKMifCCs3u34TjcMbbsYyCZPlEp5QM7GGREQaGxvTXQWTgOUSocqpcOlxUFEAmzvh6gXwwtCTflkmYbJcwhNqJtaQMMYkT0GO2zNxVJmb9OvmF+D+1yOd9MsYk17WkIhIbm5uuqtgErBcUiAr0/WZOH2OG3vi4Tq4YfGAk35ZJmGyXMITaiaiSRrmdrSbN2+eLl68ON3VMGZseX2T2yuxrQdK8uDCeVAyOd21MsYAIvK8qs7b0+3YHomIrFhhI4mHyHJJsf2L4JJj3aRfzVvhR0/Dsg27rGKZhMlyCU+omUTWkBCRW0Vkg4gsjSu7XETeEJGX/OXkuGXfEZFaEVkuIu+PKz/Jl9WKyKVx5ZUi8qwvv1tEsn35RH+71i+viOo5GmOGodhP+nWIn/Tr+ufgH3VJm/TLGJNeg07atYduA64D7uhXfo2q/ji+QETmAGcABwClwD9FpMYv/gXwH8Ba4DkReUBVXwWu9Nu6S0RuAM4Dfun/tqrqbBE5w6/3ySieoDFmmHImwBcOh4dq4cEV8OfX4eX10NZFdWsXTFsLH94P5s9Id03NojfggeVUb+60XMywRLZHQlWfBIY7AP+pwF2qul1V64FaYL6/1KrqKlXtBu4CThURAd4L3OvvfztwWty2bvfX7wVO8OunVE1NzdArmZSzXNIoQ+DkajeLaKZAfRu0diHgThf9/RL3JWbSZ9EbLofNnZZLgEL9/Ipyj8RAviQiZwOLgW+oaiswA4ifsnytLwNo7Fd+JFAItKnqjgTrz4jdR1V3iMgWv35KBylvbGykvLw8lQ9phsFyCcDc6W547S39Rr/s7oXbX4J7X01LtQywtRv6H3Hq7oUHltteiQCE+vmV6obEL4Hv4f5VvwdcDXwuxXXoIyLnA+eDm5411pGlqKiInJwc1q5dC0BeXh6lpaWsXLkSgIyMDGbPns2aNWv6ZmObNWsW7e3ttLa2AtDZ2cnUqVNpamoCYPLkyZSUlFBXVwdAZmYmVVVVNDQ00N3dDUBFRQVtbW20tbUBUFJSgoiwfv16APLz8yksLKS+vh6ArKwsKisrqa+vp6fHnVpXWVlJS0sL7e3tAEyfPh1Vpbm5GYCCggIKCgpoaGgAIDs7m4qKCurq6ujt7QWgqqqK5uZmOjo6ACgtLaWnp4eNGzcCMHXqVPLz81m9ejUAOTk5zJw5k9raWnbudPMsVFdX09TUxNatW4m9vl1dXX2TzhQWFjJp0qS+AVZyc3MpLy/fpTNRTU0NjY2NdHa6aarLy8vZtm0bLS0tI85px44dbNy4sS+n4uJisrKyLKdU57RlOwl3EyrQ0Z1oiUkj3dxJXW3tkJ979n6K9v20adMm8vLy9vj7KZZTskR6+qfv6Pigqh442DIR+Q6Aqv7QL3sYuNyvermqvt+Xf8eXXQFsBKb7vQ5Hx9aL3VdVF4jIBGA9UKxDPNFkn/65YsWKYHdDjWeWSyAue8ztNu+vIAe+c1zq62OcHz4FbQmmqs6fCFe8L/X1MbtI9udXsk7/TOkeCRHZR1VjY+Z+BIid0fEA8HsR+Qmus2U1sAgQoFpEKoE3cB0yP6WqKiKPA6fj+k2cA9wft61zgAV++WNDNSKiEOLuJ2O5BOPD+7lj7929b5VlZ8Jp+8NeE9NXr/HutP3fngtAx3ZY3ATzStNTLwOE+/kVWUNCRO4EjgeKRGQt8F3geBGZi9uB2QBcAKCqy0TkHuBVYAdwsar2+u18CXgYyARuVdVl/iEuAe4Ske8DLwK3+PJbgN+ISC2us+cZUT3HwWzbti3YUcjGM8slELHj7Q8sRzd3ItNy7eyAEPTPZWoOTMuFula49UV4ox0+tJ/rOGtSLtTPLxvZ0rNDG+OD5RIeyyRMfbmowhMNcN9rbs6UA/eGz86F3OQdYzfDE+qhDRvZ0hhjzMBE4D2V8KX5kJcFSze4EUqbO9JdMxMIa0hEpKioKN1VMAlYLuGxTML0tlz2L4JLjoPSvQYc7txEK9T3ijUkIpKTk5PuKpgELJfwWCZhSphL0ST45jFuLBAb7jzlQn2vWEMiIrFzfE1YLJfwWCZhGjCXnAnw+cPglBrXbf7Pr8OvX3r7mR4m6UJ9r1hDwhhjzO6JH+58YqY7NfTqZxKPDWLGPGtIRCQvLy/dVTAJWC7hsUzCNKxc5k53M7sWT4LGdrjiKagd7hRLZneF+l6x0z+9ZJ/+qaqkYa4wMwTLJTyWSZh2K5et3XDLi/D6Jre34hMHwLtmRVvBcSjZ7xU7/TNwsXHPTVgsl/BYJmHarVzysuHiI+CESjfWxF1L3QiZO3ZGV8FxKNT3ijUkjDHG7LnMDPjYHDjnEJiQAU+tgZ8thDe3D31fM6pZQyIiGRn20obIcgmPZRKmEedyZBl8/WiYMtENrX3FU7BmS3IrN06F+l6xPhJesvtIGGPMuLalC371PNS3QVYGfPpgOMLmUgmJ9ZEI3Jo1a9JdBZOA5RIeyyRMe5zLlBz42lFwTDn07HRjTfz5ddeHwoxIqO8Va0hEpKurK91VMAlYLuGxTMKUlFyyMuGsg9xZHBniRsH85XOwrWfPtz0OhfpesYaEMcaY6IjA8RXwlSPdpF/LNrp5OtbbpF9jhTUkIjJrlp1DHSLLJTyWSZiSnktNIVx6HMzYCzb4Sb+WNCf3Mca4UN8r1pCISHt7e7qrYBKwXMJjmYQpklwK/aRfh+0DXTvghsXwUK1N+jVMob5XrCERkdbW1nRXwSRguYTHMglTZLlMnADnHQof3s/dfmC5GxVz+45oHm8MCfW9Yg0JY4wxqSUCJ82GC+a52URfWAdXL4CWbemumRkBa0hEpLi4ON1VMAlYLuGxTMKUklwOLoFvHQN758HadrjyaVjREv3jjlKhvlesIRGRrKysdFfBJGC5hMcyCVPKctlnL/j2sTCnGDq64dpn4V8N1m8igVDfK9aQiEhTU1O6q2ASsFzCY5mEKaW5TMqCi46A9+3rBqy6e5lN+pVAqO8Va0gYY4xJvwyBj74Dzp3rhtR+uhF+utANtW2CZg2JiEyePDndVTAJWC7hsUzClLZc5s+AbxwDBTmwqtX1m1jdlp66BCbU94o1JCJSUlKS7iqYBCyX8FgmYUprLjOnuMGrqqZCWxf8ZAE8uzZ99QlEqO8Va0hEpK6uLt1VMAlYLuGxTMKU9lzyJ8JXj4LjZrpJv25/Gf742rie9CvtmQzAGhLGGGPCNCEDPnUQnHGg60Pxz1Xwi0U26VdgrCERkczMzHRXwSRguYTHMglTULm8axZ89UiYnA2vbYIrn4J1b6a7VikXVCZxRO1cXQDmzZunixcvTnc1jDHGDKRlG9z4vBu8KmeCO8Pj4DD7DYwGIvK8qs7b0+3YHomINDQ0pLsKJgHLJTyWSZiCzCU26dfhcZN+/X3luBm8KshMsIZEZLq7u9NdBZOA5RIeyyRMweaSnQmfOxRO3Q8E+MsKuPkF17AY40LNxBoSxhhjRhcReP9suNBP+vXierj6Gdhkk36lgzUkIlJRUZHuKpgELJfwWCZhGhW5HFQClxzrJv16403XCXP5pnTXKjKhZhJZQ0JEbhWRDSKyNMGyb4iIikiRv328iGwRkZf85X/i1j1JRJaLSK2IXBpXXikiz/ryu0Uk25dP9Ldr/fKKqJ7jYNra2tLxsGYIlkt4LJMwjZpcSia7Sb8OKIatPfDzRfB4/ZjsNxFqJlHukbgNOKl/oYiUAycCa/ot+reqzvWX//PrZgK/AD4AzAHOFJE5fv0rgWtUdTbQCpzny88DWn35NX69lAs18PHOcgmPZRKmUZXLpCz44hFwYpUbsOoPr8JvX4Ge3nTXLKlCzSSyhoSqPglsTrDoGuDbwHCai/OBWlVdpardwF3AqSIiwHuBe/16twOn+eun+tv45Sf49Y0xxoxVGQKn7e86YmZlwIK1NulXiqS0j4SInAq8oaovJ1h8tIi8LCJ/F5EDfNkMoDFunbW+rBBoU9Ud/cp3uY9fvsWvn1Khjok+3lku4bFMwjRqc5lX6ib9mpoD9W1wxVPQ0JbuWiVFqJlMSNUDicgk4L9whzX6ewGYpaodInIy8GegOgV1Oh84H6CsrIwVK1YAUFRURE5ODmvXukli8vLyKC0tZeXKlQBkZGQwe/Zs1qxZQ1eXa+3OmjWL9vZ2WltbAZg0aRKZmZl988dPnjyZkpKSvrHSMzMzqaqqoqGhoe+UnoqKCtra2vp2X5WUlCAirF+/HoD8/HwKCwupr68HICsri8rKSurr6+npcUPGVlZW0tLSQnt7OwDTp09HVWlubgagoKCAgoKCvvORs7OzqaiooK6ujt5etxuwqqqK5uZmOjo6ACgtLaWnp4eNGzcCMHXqVPLz81m9ejUAOTk5zJw5k9raWnbu3AlAdXU1TU1NbN26ldjr29XVxaZNriNUYWEhkyZNorHRtRNzc3MpLy/vywCgpqaGxsZGOjs7ASgvL2fbtm20tLSMOKdp06axcePGvpyKi4vJysqynNKYU3d3N1OmTBn0/WQ5pT6njIwM8vPzd+tzL6ScuOhgJtz2CpPe6EKvfobeT85h1d7dozqnrq4uysrK9vj7KZZTskQ6sqXv6Pigqh4oIgcBjwKx83PKgCZgvqqu73e/BmAerjFxuaq+35d/x69yBbARmK6qO0Tk6Nh6IvKwv75ARCYA64FiHeKJJntkyxUrVlBTU5O07ZnksFzCY5mEaUzksmMn/GEZ/Nt3yXtvJXxkf8gcnScsJjuTUTeypaouUdW9VbVCVStwhyMOU9X1IjI91o9BROb7erUAzwHV/gyNbOAM4AHfKHgcON1v/hzgfn/9AX8bv/yxoRoRxhhjxqAJGXDmQXCmn/TrsXr4xXOwNcyBnUarKE//vBNYAOwnImtF5LxBVj8dWCoiLwPXAmeoswP4EvAw8Bpwj6ou8/e5BPi6iNTi+kDc4stvAQp9+deBS0mD/Pz8dDysGYLlEh7LJExjKpd3zoKvHQV7ZcPrm+DKp6Fp9E36FWomNmmXl+xDGz09PUk9BmWSw3IJj2USpjGZy+ZOuHExNLbDxEw4Zy7MnZ7uWg1bsjMZdYc2xptYxyATFsslPJZJmMZkLtNy3RkdR5TC9l741fPwt5Vu7IlRINRMrCFhjDFm/MjOdNOPf2R/N+nXgyvgpufHxaRfUbGGRETG3C7BMcJyCY9lEqYxnYsI/EcVXHQE5E6Al5vhx+FP+hVqJtZHwkt2HwljjDGjQHMH3LAYmrdCXhacdxjsX5TuWqWE9ZEIXKjHssY7yyU8lkmYxk0usUm/DtzbTfp13SJ3mmiAP7JDzcQaEhGJjbhmwmK5hMcyCdO4yiU3Cy6cByfNdh0v730VfhPepF+hZmINCWOMMSZD4MP7wecPcx0yF66FaxZCm036NRTrI+HZOBLjg+USHsskTOM6l7Xtrt/E5k6YMhHOPxwqp6a7VjaOxHgTmwjHhMVyCY9lEqZxnUtZPlxyLFRPgy3b3Z6JBY1D3y9ioWZiDYmIxGahM2GxXMJjmYRp3Oey10T4ypHw7llu8q/fvOImAOvdmbYqhZqJNSSMMcaYRDIz4JMHwlkHQabA4w3urI4Om/QrnjUkIjJ9+ugZv308sVzCY5mEyXKJc+xMN+lX/kRY3gJXPgVvpH7vQKiZWEMiItaJNUyWS3gskzBZLv1UTXP9JmZOgZZONxLmi+tSWoVQM7GGRESam5vTXQWTgOUSHsskTJZLAlNz4etHw/wZbtKvm15wc3WkaNKvUDOxhoQxxhgzXNmZcM4h8LF3uEm//rbSzSI6jif9soZERAoKCtJdBZOA5RIeyyRMlssgROCEfeHi+W7Sr1ea4aqnYcPWSB821EysIRGRUAMf7yyX8FgmYbJchmFOMVxyHOwzGdZ1uE6Yr26M7OFCzcQaEhFpaGhIdxVMApZLeCyTMFkuw7R3HnzrWDi4BDp3wC8WwaOrIpn0K9RMrCFhjDHG7ImcCW4Y7ZOrQYH7XoPbX4busCb9ioo1JCKSnZ2d7iqYBCyX8FgmYbJcdlOGwCk18IXDYGImLHoDrlmQ1Em/Qs3EJu3ykj1plzHGmHFqbTvcuNiNN5E/0TUuqqalu1ZvY5N2Ba6uri7dVTAJWC7hsUzCZLnsgbJ81wlzv0Jo3w4/XQhPr9njzYaaiTUkItLbOz6OjY02lkt4LJMwWS57aHI2fGk+vKcCehV+twTuXrpHk36Fmok1JIwxxpgoZGbAxw+AzxwMEzLgX6vh2mfH3KRf1kfCS3Yfid7eXjIzM5O2PZMclkt4LJMwWS5JVt/qRsDcsh2m5cKF89whkN2Q7Eysj0TgQh0TfbyzXMJjmYTJckmyyqmu30RFAWz2k369sHuTfoWaiTUkItLR0ZHuKpgELJfwWCZhslwiUJAD/3kUHFXmxpi4+QV4YPmwJ/0KNRNrSBhjjDGpkpXp+kycPseNPfFQrTtVtLMn3TUbMWtIRKS0tDTdVTAJWC7hsUzCZLlESATeW+nO6piUBUs2wFXPDDnpV6iZWEMiIj09o7d1OZZZLuGxTMJkuaTA/kVwybFQuhes95N+Ldsw4OqhZmINiYhs3BjdDHBm5CyX8FgmYbJcUqQ4D755DBziJ/26/jl4pC7hpF+hZmINCWOMMSadcibAFw53c3Uo8KfX4baXRs2kX9aQiMjUqVPTXQWTgOUSHsskTJZLimWImz30/MPdpF/PNcFPFrhTRb1QM4m0ISEit4rIBhFZmmDZN0RERaTI3xYRuVZEakXkFRE5LG7dc0Rkpb+cE1d+uIgs8fe5VkTEl08TkUf8+o+ISMpf/fz83RtoxKSG5RIeyyRMlkuazJ0O3zoWiibBmi2u38RflsNlj1H03UVw2WNuZtGARL1H4jbgpP6FIlIOnAjEz2LyAaDaX84HfunXnQZ8FzgSmA98N65h8EvgC3H3iz3WpcCjqloNPOpvp9Tq1atT/ZBmGCyX8FgmYbJc0qh0L9cJc/8ieLMb/l4LmzsRcHsofr8kqMZEpA0JVX0S2Jxg0TXAt3FHg2JOBe5QZyFQICL7AO8HHlHVzaraCjwCnOSX5avqQnXjfN8BnBa3rdv99dvjyo0xxpjw5WXDxUe4wxz9dfe6gawCMSHVDygipwJvqOrL/khEzAygMe72Wl82WPnaBOUAJaoaG3t0PVAyQF3Ox+39oKysjBUrVgBQVFRETk4Oa9e6zefl5VFaWsrKlSsByMjIYPbs2axZs4auri4AZs2aRXt7O62trQDs3LmTjo4OmpqaAJg8eTIlJSV908BmZmZSVVVFQ0MD3d1uApeKigra2tpoa2tzT6KkBBFh/fr1gNvVWFhYSH19PQBZWVlUVlZSX1/fd1pQZWUlLS0ttLe3AzB9+nRUtW9o1YKCAgoKCmhoaAAgOzubiooK6urq+maWq6qqorm5uW8UtdLSUnp6evp6DE+dOpX8/Py+Xyw5OTnMnDmT2tpadu50M9tVV1fT1NTE1q3uvOiysjK6urrYtGkTAIWFhUyaNInGRhdtbm4u5eXlfRkA1NTU0NjYSGenO0ZYXl7Otm3baGlpGXFOmZmZbNy4sS+n4uJisrKyLKc05rRlyxaAQd9PllPqc+rs7ERVd+tzz3JKfk7V23vZ5ZvS082drFyxYkTfT7GckiXySbtEpAJ4UFUPFJFJwOPAiaq6RUQagHmquklEHgSuUNWn/P0eBS4BjgdyVPX7vvz/AZ3AE3799/nydwKXqOopItKmqgVxdWhV1UH7SSR70i5jjDFmj1322C4dLvtMy4Xvv3ePNj1aJ+2qAiqBl30jogx4QUSmA28A5XHrlvmywcrLEpQDNPtDH/i/A4/wEZHa2tpUP6QZBsslPJZJmCyXQHx4P8jud3gjO9OVByKlDQlVXaKqe6tqhapW4A5HHKaq64EHgLP92RtHAVv84YmHgRNFZKrvZHki8LBf1i4iR/mzNc4G7vcP9QAQO7vjnLjylInt6jJhsVzCY5mEyXIJxPwZ8KmDYFqu61Q4Ldfdnj9jqHumTKR9JETkTtyhiSIRWQt8V1VvGWD1vwEnA7XANuCzAKq6WUS+Bzzn1/s/VY114LwId2ZILvB3fwG4ArhHRM4DVgOfSOLTMsYYY1Jn/gyYP4OVK1ZQU1OT7tq8TeR9JEaLZPeRUFX6dSY1AbBcwmOZhMlyCU+yMxmtfSTGjVivZRMWyyU8lkmYLJfwhJqJNSQiEjv9x4TFcgmPZRImyyU8oWZiDQljjDHGjJg1JCJSVlY29Eom5SyX8FgmYbJcwhNqJtaQiEhsRDETFsslPJZJmCyX8ISaiTUkIhIbEtWExXIJj2USJsslPKFmYg0JY4wxxoyYjSPhichG3OBVyVIEhNl8HN8sl/BYJmGyXMKT7ExmqWrxnm7EGhIREZHFyRjowySX5RIeyyRMlkt4Qs3EDm0YY4wxZsSsIWGMMcaYEbOGRHR+le4KmIQsl/BYJmGyXMITZCbWR8IYY4wxI2Z7JIwxxhgzYmO2ISEiHUnc1jwRuXaAZQ0iUjTAsrkioiJy0iDbvk1ETk9WXUezwTITkeNF5ME92PbxIrJFRF4SkVdE5J8isvcQ9zlXRK4b6WOOZiJSIiK/F5FVIvK8iCwQkY/s5jYqRGTpCB//XP/eeV9c2Wm+bFy9X/q/L/bk/3I4mYjIn0TktLjby0Xksrjb94nIR0XkQhE525eNq8+x+ExE5GQRWSEiswZZv+97Yne/m0SkRkT+JiIrReQFEblHREpGXvvkG7MNiWQRkQmqulhVvzKCu58JPOX/mvT7t6rOVdWDgeeAi6N6IBHJjGrbURMRAf4MPKmq+6rq4cAZwNsG+heRCRFWZYl/3JgzgZeTseHRnE8KPA0cAyAihcBW4Oi45UcDz6jqDap6RxrqFwwROQG4FviAqiZzHKLY9nOAvwK/VNVqVT0MuB7Y47EfRlCXAd8zY74h4X+JPiEi94rI6yLyO/9BGWtJvu5/cV0b+8UrIpeLyG9E5GngN/G/hkWkUET+ISLLRORmQAZ4XAE+DpwL/If/h0Cc63wr/5/A3nH3+R8ReU5ElorIr+Lq+YSIXCMii0XkNRE5QkT+6Fuo3/fr5InIX0XkZX//T0b0kkbKvz5X+eewpN/zmDxAjg0i8r++tb5ERPYf6jGAvYBWf3u+/8X9oog8IyL7JbjPB/06RSJyor/+goj8QUQmx9XjShF5AZf9aPVeoFtVb4gVqOpqVf059P0ifkBEHgMeFZHJIvJo3Ot/av8Nisi+/vU9QkSqROQh/7779yB5/RuYLyJZ/jWeDbwUt80T/DaXiMitIjJxiPKxkk8fEfmQiDzrn+8/xf9S9Z9ht/rPjlUi8rYfQvGZ9Fv0DL4h4f/+BSj2781KoFNV1/vH+GaC7V4hIq+K2/P3Y19WISKP+bJHRWSmL79N3GfvM76eo2avhoi8C7gJOEVV63zZp0Vkkbg9nzfKIF++InKH7Lrn53cJ3jufAhao6l9iBar6hKouFZEcEfm1/z9/UUTe47czUPm5InK//59YKSLfjXvshPUWkQ4RuVpEXmbXxuSuVHVMXoAO//d4YAvu11QGsAA4DsgBGoFKv96dwIP++uXA80Bu3DZiy64F/sdf/yCgQFGCxz8WeNRf/z3wMX/9o8AjQCZQCrQBp/tl0+Lu/xvgQ/76E8CV/vpXgSZgH2AisBYoBD4G3BR3/ynpzmAkmfnnEXt9SoA1/rkmzNHfrwH4sr9+EXBzgm3H7v+Sz/11IN8vywcm+OvvA+7z188FrgM+gvtSm4obWe5JIM+vc0nc/0MD8O10v45JyOErwDWDLD/X/99N87cnxL2WRUAtroFdASwF9gNeBA7x6zwKVPvrRwKPDfAY1wE/AU4BzgK+C9wGnM5b798av/4dwNcGKh/N+QC9/v82dlkDXOeXTeWtTvOfB6721y/HNQgm+kxagKyBMun3eBNxn0vZwA+Bk3CfR3N8Dr+Je4xv+uuxXAqB5XF1KvB//wKc469/Dvhz3P3+gHtPzwFq0/16DzOTHmAzcHBc2Tv888zyt68Hzo773yvy12PfTe+Oex2mAPX4z6G4bf4E+OoAdfgGcKu/vr//v8gZpPxcYJ3PKNf/H8wbot4KfGKo12PM75HwFqnqWlXdiXsjVuBe4FWqWu/XubPffR5Q1c4E23oX8FsAVf0r/ldtAmcCd/nrd/HW4Y13AXeqaq+qNgGPxd3nPf7XxRLcr8ID4uvj/y4BlqnqOlXdDqwCyn35f/hfXO9U1S0D1Ct0x/HW69MM/AuI/WJKlGPMH/3f5/uVx4sd2igHfg38yJdPAf4g7tjxNez6ur8X11j4oKq2AkfhPvCeFpGXgHOA+GOjd+/Wsx0FROQX4vZ0PRdX/Iiqbo6tAvx/IvIK8E9gBq4RCG4X7P3AWar6st+zcAzu9X4JuBHXUBzIXbjDG2ew63t0P6BeVVf427fj3lsDlceMxnw6/f/tXFWdC/xP3LIy4GH/mfEtdv3f/auqblfVTcAGBsik/4P5z5VlwGG4//dncQ33Y/zl6UHqugXoAm4RkY8C23z50bgfVOAaJcfF3efPqrpTVV+Nq2PoenANtfPiyk4ADgee8//bJwD7DrQBVf0XUC0ixbjvh/tUdcdu1OE43voueh03xUPNIOXg3rct/rvtj37dwerdC9w3VEXGS0Nie9z1XtwvqKFsHemD+d1CHwP+R0QagJ8DJ4nIXoPcJwfXEjxdVQ/C7TLLiVsl9hx2suvz2Ylrxa7AvfGXAN8XkfgPm7FisBy3D1A+kAd46wvme8Djqnog8CF2fd3rcIdBYm9Ewb0ZYx/sc1Q1/sNkxP83AYl9iQCgqhfjPlzij8vGP8+z/LLD/RddM2+9hltwv4hiXxwZQFv8F6OqvmOgiqjqIuAg3K+5FQOttxvGQj7xfo7bO3EQcAGJPzNg1/dF/0wSeRr3/tjLN6AX8lZD4pmB7uS/COcD9+L2JD00jOcQX8+Eh4oDtBP4BO7Q23/5MgFuj/u/3k9VLx9iO3cAnwY+C9yaYPky3Jd8svQf70EZvN5dqto71EbHS0MikeXAviJS4W8Pt0/Bk7jjVojIB3C7Fvs7AXhFVctVtUJVZ+FadR/x9/+kiGSKyD7Ae/x9Yh8Am/yvtt06VigipcA2Vf0tcBVxXwSjzL956/Upxn2YLYrgcY7DNRLA7ZF4w18/t996q3GNwjtE5ADcB+qxIjIb+vqm1DC2PAbkiMgX48omDbL+FGCDqvb447Hxe2i6cf/3Z4vIp1S1HagXkY9DX5+YQ4aoz6XAf/UrWw5UxHIAPoPbezVQ+VgV/797zjDvs0smA6zzDK5hEttj8Qpu78RM3C7xhPxn1xRV/Rvwn0As22d4q+PsWbj3+aimqttwh7fPEpHzcIfsThd/NpiITJNBzuTwbsMdksPvkenv98AxIvLBWIGIvEtEDsS9hmf5shpcNssHKQe313qaiOQCp+EajCOp9y6i7HEdNFXtFJGLgIdEZCuuF/9w/C9wp4gsw7051iRY50zgT/3K7gO+CJyM213+qr/vAl+fNhG5CfcmXb8b9Yk5CLhKRHbidrt9cYj1gyKu9/923Ot2NO4DTHHHtNfLEB0oh+mdfted4H6Vfd6X/wi4Xdwpbn/tfydVfV1EzsIdy/0QrrFxp/hOfMBlQDJ+LQdBVdV3ArtGRL4NbMT9kr9kgLv8DviL372+GNf/JH57W0XkFOARcae+nQX80r/eWbjDFwOejaGqf09Q1iUin8UdIpmAe7/coKrbE5XvxtMfbS7HPddWXAOwcjh36p+Jqj7Qb5VncLu3f+jX3yEiG4BGf2hxIHsB9/s9rAJ83Zd/Gfi1iHwL9//02WE9u8Cp6mZxp/c/ieu/dhnwDxHJwH0OX8wgs0qrarOIvIY7SyrR8k6f009F5Kd+m6/4x7oe9z5aAuwAzvX//wOVg/tRdh/ukNhvVXUxgH8vDrve/Y3rkS1FZLKqdoh7hX8BrFTVa9Jdr/HI/yq9SVXnp7suxhiTCiIyCXc4+rCo+7WJyLnAPFX9UrK3PZ4PbQB8wf9CXYbbRXhjeqszPonIhbiOdJcNta4xxowF4gZbew34+SjuHA+M8z0SxhhjjNkz432PhDHGGGP2gDUkjDHGGDNi1pAwxhhjzIhZQ8KYMU5Eev0Y+rHLpUnabt+Mhqkkbq6AxXG354nIE6muhzHGGbfjSBgzjnT6ESfHkr1F5AOJxpgwxqSW7ZEwZpzyexR+6PdSLBaRw0TkYRGp86fkxmbPfVLczLLLReQGP2hN/219XdyMrUtF5Gu+7P9i1/3tH4jIV/31b4mb6fYVEfnfuHWGO3viVcB/J6hHhbgZRV/wl9h02MeLyL/EzX64StwMlWf5x1oiIlV+vWIRuc/X7TkROXakr68x44U1JIwZ+3L7HdqIHw5+jd9b8W/emsHxKNwIrjHzcSMTzgGqcDPY9hGRw3EjFR7p7/sFETkUN3fA2X6dDNwQyb8VkROBar/ducDh4ob9fQduqPpjfZ168UP9JrAA6BY/RXKcDcB/qOphflvXxi07BLgQN9vhZ3AzhM4HbvbPD+BnuJlPj8ANjX7zAI9vjPHs0IYxY99ghzbiZ5WdrKpvAm+KyHYRKfDLFqnqKgARuRM3T8m9cds4DviTqm716/wReKeqXisiLb5RUQK8qKotviFxIm4aa4DJuIbFwbw1CyG4qY43DPK8vo8bxCx+6O4s4DoRmYtriMTPg/Kcqq7zdawD/hH33GMNkvcBc/zjA+THRsAdpB7GjGvWkDBmfBt0Vll/PdGMgcN1M25ukum8NbuhAD9U1V1GkhWRL+NmIfzOcDasqo+JyPdxe0Fi/hM3++ghuD2uXXHL+j+/+Ocee64ZwFGqGn8/Y8wg7NCGMWYo80Wk0h+e+CTwVL/l/wZOE5FJIpKHm1kyNrvjn4CTgCOAh33Zw8DnxM0UiYjMEDfz4EhmIfw+8O2421OAdX5iqc8AA/WxGMg/eOswB37PhjFmELZHwpixL9fPKRPzkKruzimgzwHXAbOBx+k3s62qviAit/HWdO83q+qLflm3iDwOtKlqry/7h+8PscAfQugAPq2qr+7uLISq+jcR2RhXdD1wn4icDTyEm7V0d3wF+IWIvIL7fHwS16/CGDMAm2vDGDMgETke+KaqnjLC+2cALwAfV9WVSayaMSYQdmjDGBMJEZkD1AKPWiPCmLHL9kgYY4wxZsRsj4QxxhhjRswaEsYYY4wZMWtIGGOMMWbErCFhjDHGmBGzhoQxxhhjRswaEsYYY4wZsf8fDNeRuO8zkO0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14" descr="data:image/png;base64,iVBORw0KGgoAAAANSUhEUgAAAagAAAEYCAYAAAAJeGK1AAAAOXRFWHRTb2Z0d2FyZQBNYXRwbG90bGliIHZlcnNpb24zLjkuNCwgaHR0cHM6Ly9tYXRwbG90bGliLm9yZy8ekN5oAAAACXBIWXMAAAsTAAALEwEAmpwYAAAgiElEQVR4nO3de5xVdb3/8dc7kNSjKAohNwUF84B4Y1DINEtRxBQfv6y0PBCZRFnaVbFMu2heTtmBjMySgo4/L2nlPUUTy44ogwqCJnJUZHBEFBTM68jn/LG+o8txLnuG2bMXzPv5eOzH7PVdt8/eM+w367u+ey1FBGZmZkXzvkoXYGZm1hgHlJmZFZIDyszMCskBZWZmheSAMjOzQnJAmZlZITmgzCpA0suSdm1m/lOSDmvH/X1W0u0lLvs5Sfe0176LRNL3Jf13peuw0jigOhFJ4yXd08jjO00sP1fSa5LWS1onaYGkqZLe39G152oKSYMrtO92+3CLiG0i4om03d9JOncj6mo0UPIhFxFXRMThba944zX3u5P0nRTaL6e/ubdy00ua2eZcSV9op/oOkbQht9+Vkn7QHtu2tnFAdS59gO9HxIfrH8BYYPdm1vlKRGyb1v0mcDxwiySVv9x3SOrakfuzjhURP06hvQ0wBbi3fjoihnVgKc/k6vgwcJKkYztw/5bjgLKSRMS/ImIucAwwGjgKQNL70lHV/0p6QdI1knZI8wam/zVPlvSMpFpJ36rfpqT9Jd0r6cU07xJJ3XLzQ9Ipkh4HHpf0tzRrYfof7qfT/3prJJ0u6bm0nWMljZO0VNKa/BFiifVOlPS0pOclfTfNGwt8B/h02vfChu+RpEmSbsxNPy7pD7npFZL2yb22wZImA58FTk/bvTG3yX0kLZL0kqSrJW3Zlt9d2t+7jrIkHS7psbTtGZLubngkIuknktZKelLSkbn27SRdnt7rlZLOldQlzRuctvVSev+uTu3v+d21ovYPSZqftjlf0odS+3nAQcAlaZuXpPZp6b2uP+o/qC3vWUQ8CfwPMLSlWtK8uZJ+JOkfynodbpfUM807RFJNg9f19hFu+rdQnWpeJenittS8uXFAWatExNNANdkHA8BXgWOBjwB9gbXALxqs9lFgCHA4cIbeObfyFvB1oCdZ6B0KfLnBuscCBwBDI+Lg1LZ3+l/u1Wl6J2BLoB9wNvBr4ERgRKrze5IGtaLeDwMfTPWcLenfI+IvwI+Bq9O+927k7bkbOCiFYF+gW3pdKDvftA2wKL9CRFwGXAFclLZ7dG72p8iOcAcBewGfa2SfrZY+NK8FzgR2BB4DPtRgsQNSe0/gIuBy6e2j5t8BdcBgYF+y32t9uP0IuB3oAfQHfp5eZ1O/u5Zq3QG4GZiear0YuFnSjhHxXeDvZEf520TEV9Jq84F9gB2A/w/8oS3hLmkIcCAwr6Vacqt9BpgEfIDs9/8tSjMNmBYR3YHdgGtaW+/myAFlbfEM2T9+yLpjvhsRNRHxOvB94Di9u0vuB+kI7GHgt8AJABGxICLmRURdRDwF/IosOPLOj4g1EfFqM/W8CZwXEW8CV5F9qE6LiPURsQR4BKgPlFLrfTUiFgILc+s2K51TWk/24XgwcBvwjKQ90uv6e0RsKGVbyfSIeCYi1gA3pu02ZZSyI9G3H8DOTSw7DlgSEX+MiDqyD9xnGyyzPCJ+HRFvAbPIunh7S+qd1v9a+p0+B/yMrOsXst/FLkDfiHgtIjZ2sMVRwOMR8fv0d3Il8E/g6KZWiIj/jogX0vI/Bd5P9h+OUvRN7986YClwH1D/Gkqp5bcRsTT9vV5D87+zvDeBwZJ6RsTLETGvxPU2aw4oa4t+wJr0fBfgT7kPxUfJjox655ZfkXu+nOzIBUm7S7pJ0rPpA+HHZOFCE+s25YX0QQpQH2SrcvNfJTt6KbXe/If1K7l1S3E3cAhZQN0NzCULp4+k6dZoTR3zImL7/AN4uoll+5J7XyO7YnRNg2Wezc1/JT3dhuz92wKozb2HvyI7YgA4HRBwv6Qlkj7fTM2l6Ev2N5O3nOxvsFGSviXp0dQN9yKwHe/9u2rKM+n96w5sT/a3M6sVtbT1b+cksnPB/0xdhx8vcb3NmgPKWkXSALKus7+nphXAkQ0+HLeMiJW51Qbknu9MdgQG8Euy/4EOSR8I3yH7cMtr78vtl1JvU0qppT6gDkrP76blgOroWwrUknW/AZC67vo3vfi7rABeB3rm3r/u9QMZIuLZiDg5IvoCXwRmaONGXT5DFop5OwP1v693vXfpfNPpZN2jPVJQv8R7/65aFBEvkXUR1h8htVRLc/4FbJ2rswvQK7evxyPiBLKgvxC4VtK/tbbmzY0DykoiaWtJHwGuB+4HbkmzLgXOk7RLWq6XpPENVv9eWn8YWf98/fmHbYF1wMupG+xLJZSyCmjy+0MlKKXe5vY9UFJz/27uJjvntlVE1JAF+ViycxYPNrPdjXlNrXUzMFzZYJKuwClk5/FaFBG1ZOeYfiqpezrftlv620DSJyXVh91asgCp79Zsy+u8Bdhd0mckdU2DK4YCNzWxzW3Jzo+tBrpKOhvo3sp9AiBpG7Kuy/ph7i3V0pylwJaSjpK0BXAWWddj/b5OlNQrdQG/mJpb0x28WXJAWUsukbSe7IPgv4DrgLG5cynTgBuA29Ny88hOsOfdDSwD7gR+EhH1Xxj9FtlJ5fVkAxtKOXH+fWBW6l76VBteTyn1NqV+RN4Lkh5obIGIWAq8TDrCjIh1wBPAP3LdkA1dDgxNr+nPJdbSZhHxPPBJssEPL5B9yFaTHRmVYgLZAIBHyELoWrJzVAAjgfskvUz2Pp9W/30v2vC7i4gXgI+TfcXhBbKjo4+n1wDZ7/M4ZaMNp5Od9/sLWSAsB16jtG7ien3TiMCX0/o7kI2yLKWW5l7HS2QDgH5DdsT1L97drToWWJL2Ow04voXzrp2Cwjcs7DQkTQGWRcQdubZtgEsi4nNl2N9A4Elgi3Qy3gooHRHWAJ+NiLsqXY9ZPX/5sfP5qaS1uekuwP9WqhirDElHkI1QexX4Ntk5Go8cs0JxQHUiEXEp2TkYs9FkAwDqu+qOdZeSFY27+MzMrJDKNkhC0kxll55ZnGvbQdIcZZeAmSOpR2qXpOmSlim7tMt+uXUmpuUflzQx1z5C0sNpnen133Jvah9mZrZpKdsRlKSDyUYzzY6IPVPbRcCaiLhA0lSy7ymcIWkc2SVoxpGNqJoWEQcou7RINVBFNlx1ATAiItZKuh84lawf/Rayb93f2tQ+Wqq3Z8+eMXDgwPZ9E8zMrEULFix4PiJ6NWwv2zmoiPhbGsWVN57sS4yQfTt7LnBGap+dvtE+T9L2kvqkZeekS70gaQ4wVtJcoHv95UAkzSa7vtqtzeyjWQMHDqS6urrVr9PMzDaOpIZX6AA6/ntQvdMX/SC7JEj95WX68e7vKtSktubaaxppb24f76HsKtvVkqpXr17dhpdj1nbz589nypQpjBkzhtGjRzNlyhSmT5/OwoULGT16NMOHD+foo49m3bp1b6+zaNEiRo8ezbBhwxg+fDivvfYaAAsWLGD48OEMHjyYU089lfqekTVr1jBmzBiGDBnCmDFjWLs2G8AZEZx66qkMHjyYvfbaiwceaPRrXWaVFRFlewADgcW56RcbzF+bft4EfDjXfidZt963gLNy7d9LbVXAHbn2g4CbmttHS48RI0aEWSWsXr06tttuu1i8eHFERFRVVcXcuXMjIuLyyy+Ps846KyIi3nzzzRg+fHg89NBDERHx/PPPR11dXUREjBw5Mu69997YsGFDjB07Nm655ZaIiPj2t78d559/fkREnH/++XH66adHRMTNN98cY8eOjQ0bNsS9994b+++/f8e9YLMGgOpo5HO5o4+gVqWuO9LP51L7St59vbb+qa259v6NtDe3D7NCqT+COuuss+jevTunnXYa06dPZ+nSpRx8cHZ3ijFjxnDdddcBcPvtt7PXXnux997ZxdV33HFHunTpQm1tLevWrWPUqFFIYsKECfz5z38G4Prrr2fixGxs0cSJE9/VPmHCBCQxatQoXnzxRWprazErko4OqBuA+pF4E8mu61bfPiGN5hsFvBRZN91twOGSeqTReIcDt6V56ySNSqP3JjTYVmP7MCuUkSNHcumll3LBBRewxRZbcN5553HqqacybNgwrr8++7P9wx/+wIoVWS/30qVLkcQRRxzBfvvtx0UXXQTAypUr6d//nf+v9e/fn5Urs/+vrVq1ij59sqsQ7bTTTqxatertdQYMGNDoOmZFUc5h5lcC9wIfVHbH05OAC4Axyu6QeliahmwU3hNk12v7NemmdZENjvgR2Q3I5gM/TG3wznWtlpFdCeHW1N7UPswK5Y477mDvvfemb9++fOITn+CAA7JLAs6cOZMZM2YwYsQI1q9fT7du2U2G6+rquOeee7jiiiu45557+NOf/sSdd95Z8v4kIbX6ot5mFVPOUXwnNDHr0EaWDbIrKje2nZnAzEbaq4E9G2l/obF9mBXNYYcdxsKFC1m+fDmHHHIIX/rSlxg0aBB77LEHt9+eXU936dKl3HzzzUB2lHPwwQfTs2d2a6Nx48bxwAMPcOKJJ1JT886YoZqaGvr1y8YM9e7dm9raWvr06UNtbS0f+EB226Z+/fq9fWTWcB2zovDVzM0qbJddduGb3/wmZ599NgDPPZedNt2wYQPnnnsuU6ZMAeCII47g4Ycf5pVXXqGuro67776boUOH0qdPH7p37868efOICGbPns348dkdRI455hhmzcrutzdr1qx3tc+ePZuIYN68eWy33XZvdwWaFYUDyqwATj75ZBYvXsxTTz3FlVdeye67784ee+xB3759mTRpEgA9evTgG9/4BiNHjmSfffZhv/3246ijjgJgxowZfOELX2Dw4MHstttuHHnkkQBMnTqVOXPmMGTIEO644w6mTp0KZEdfu+66K4MHD+bkk09mxowZlXnhZs3wtfiSqqqq8Bd1zcw6nqQFEVHVsN1HUGZmVki+3UY7GbjzTixfsarSZZiZdbhdBvTmqaefbfftOqDayfIVq4gbK12FmVnH09Hl+c+5u/jMzKyQHFBmZlZIDigzMyskB5SZmRWSA8rMzArJAWVmZoXkgDIzs0JyQJmZWSE5oMzMrJAcUGZmVkgOKDMzKyQHlJmZFZIDyszMCskBZWZmheSAMjOzQnJAmZlZITmgzMyskBxQZmZWSA4oMzMrJAeUmZkVkgPKzMwKyQFlZmaF5IAyM7NCckCZmVkhOaDMzKyQHFBmZlZIDigzMyskB5SZmRWSA8rMzArJAWVmZoXkgDIzs0KqSEBJ+rqkJZIWS7pS0paSBkm6T9IySVdL6paWfX+aXpbmD8xt58zU/pikI3LtY1PbMklTK/ASzcxsI3V4QEnqB5wKVEXEnkAX4HjgQuBnETEYWAuclFY5CVib2n+WlkPS0LTeMGAsMENSF0ldgF8ARwJDgRPSsmZmtgmpVBdfV2ArSV2BrYFa4GPAtWn+LODY9Hx8mibNP1SSUvtVEfF6RDwJLAP2T49lEfFERLwBXJWWNTOzTUiHB1RErAR+AjxNFkwvAQuAFyOiLi1WA/RLz/sBK9K6dWn5HfPtDdZpqt3MzDYhleji60F2RDMI6Av8G1kXXYeTNFlStaTq1atXV6IEMzNrQiW6+A4DnoyI1RHxJvBH4EBg+9TlB9AfWJmerwQGAKT52wEv5NsbrNNU+3tExGURURURVb169WqP12ZmZu2kEgH1NDBK0tbpXNKhwCPAXcBxaZmJwPXp+Q1pmjT/rxERqf34NMpvEDAEuB+YDwxJowK7kQ2kuKEDXpeZmbWjri0v0r4i4j5J1wIPAHXAg8BlwM3AVZLOTW2Xp1UuB34vaRmwhixwiIglkq4hC7c64JSIeAtA0leA28hGCM6MiCUd9frMzKx9KDsYsaqqqqiurm7z+pKIG9uxIDOzTYSOho3JEkkLIqKqYbuvJGFmZoXkgDIzs0JyQJmZWSE5oMzMrJAcUGZmVkgOKDMzKyQHlJmZFZIDyszMCskBZWZmheSAMjOzQnJAmZlZITmgzMyskBxQZmZWSA4oMzMrJAeUmZkVkgPKzMwKyQFlZmaF5IAyM7NCckCZmVkhOaDMzKyQHFBmZlZIDigzMyskB5SZmRWSA8rMzArJAWVmZoXkgDIzs0JyQJmZWSE5oMzMrJC6lrKQpCrgIKAv8CqwGJgTEWvLWJuZmXVizR5BSZok6QHgTGAr4DHgOeDDwB2SZknaufxlmplZZ9PSEdTWwIER8WpjMyXtAwwBnm7nuszMrJNrNqAi4hctzH+oXasxMzNLWuriOyf/s8G8UeUqyszMrKVRfDtJOhIYK+k4AEn7S/ob8IOyV2dmZp1WS+egRgCHAm8AX5P0CWAYcGZE3Fzu4szMrPNqKaCeBQ4GLga+DqwCBkbEi2Wuy8zMOrmWuvhWRsRrgCLideBJh5OZmXWElgLqogY/P1PGWszMzN7WUkAFQEQ8mX4+mp+pTP/W7lTS9pKulfRPSY9KGi1pB0lzJD2efvbI7WO6pGWSFknaL7ediWn5xyVNzLWPkPRwWme6JLW2RjMzq6yWAuo/JV0naYKkYZI+IGlnSR+T9CPgH8C/t2G/04C/RMQewN7Ao8BU4M6IGALcmaYBjiT7MvAQYDLwSwBJOwDnAAcA+wPn1IdaWubk3Hpj21CjmZlVUEtf1P2kpKHAZ4HPA32AV8gC5RbgvHSOqmSStiMbePG5tI83gDckjQcOSYvNAuYCZwDjgdkREcC8dPTVJy07JyLWpO3OIRsOPxfoHhHzUvts4Fjg1tbUaWZmldXixWIj4hHgu+24z0HAauC3kvYGFgCnAb0jojYt8yzQOz3vB6zIrV+T2pprr2mk/T0kTSY7KmPnnX1JQTOzIqnE7Ta6AvsBv4yIfYF/8U53HgDpaCnKXUhEXBYRVRFR1atXr3LvzszMWqESAVUD1ETEfWn6WrLAWpW67kg/n0vzVwIDcuv3T23NtfdvpN3MzDYhHR5QEfEssELSB1PTocAjwA1A/Ui8icD16fkNwIQ0mm8U8FLqCrwNOFxSjzQ44nDgtjRvnaRRafTehNy2zMxsE1HqDQsPBB6KiH9JOpHsiGdaRCxv436/ClwhqRvwBDCJLCyvkXQSsBz4VFr2FmAcsIxsgMYkgIhYk0YSzk/L/bB+wATwZeB3ZPewuhUPkDAz2+QoO93TwkLSIrLh4HuRffD/BvhURHykrNV1oKqqqqiurm7z+pKIG9uxIDOzTYSOhlKypMn1pQURUdWwvdQuvro0cGE8cEm6T9S2ba7GzMysBSV18QHrJZ0JnAgcLOl9wBblK8vMzDq7Uo+gPg28DpyUBjn0B/6zbFWZmVmnV9IRVAqli3PTTwOzy1WUmZlZqaP41vPOF2e7kXXvvRwR25WrMDMz69xKPYJ6e0BE+m7ReGBUuYoyMzNr9Rd1I/Nn4Ij2L8fMzCxTahff/8tNvg+oAlp1FXMzM7PWKHWY+dG553XAU2TdfGZmZmVR6jmoSeUuxMzMLK/ULr5eZHeoHZhfJyI+X56yzMyssyu1i+964O/AHcBb5SvHzMwsU2pAbR0RZ5S1EjMzs5xSh5nfJGlcWSsxMzPLKTWgTiMLqdckrU+PdeUszMzMOrdWX0nCzMysI5R6DgpJxwAHp8m5EXFTeUoyMzMrsYtP0gVk3XyPpMdpks4vZ2FmZta5lXoENQ7YJyI2AEiaBTwInFmuwszMrHNrzcVit8899202zMysrEo9gjofeFDSXYDIzkVNLVtVZmbW6ZU6iu9KSXOBkanpjHSXXTMzs7JosYtPUldJiohasvNO3YA+Za/MzMw6tWYDStLJwHPA8vT8TuA44CpJvvSRmZmVTUtdfF8DdgO2BR4FdomI5yVtDcwHLixveWZm1lm1FFBvRMRaYK2kZRHxPEBEvCLpjfKXZ2ZmnVVLAbWVpH3JugK7pedKjy3LXZyZmXVeLQVULXBxev5s7nn9tJmZWVk0G1AR8dGOKsTMzCyvNVeSMDMz6zAOKDMzKyQHlJmZFVKz56Ak7dfc/Ih4oH3LMTMzy7Q0iu+nzcwL4GPtWIuZmdnbPIrPzMwKqTW3fN8TGEruC7oRMbscRZmZmZUUUJLOAQ4hC6hbgCOBewAHlJmZlUWpo/iOAw4Fno2IScDebORddSV1kfSgpJvS9CBJ90laJulqSd1S+/vT9LI0f2BuG2em9sckHZFrH5valknyjRXNzDZBpQbUqxGxAaiT1J3sFhwDNnLfp5FdIb3ehcDPImIwsBY4KbWfBKxN7T9LyyFpKHA8MAwYC8xIodcF+AXZUd5Q4IS0rJmZbUJKDahqSdsDvwYWAA8A97Z1p5L6A0cBv0nTIhsReG1aZBZwbHo+Pk2T5h+alh8PXBURr0fEk8AyYP/0WBYRT0TEG8BVaVkzM9uElHrL9y+np5dK+gvQPSIWbcR+/ws4new+UwA7Ai9GRF2argH6pef9gBWpjjpJL6Xl+wHzctvMr7OiQfsBjRUhaTIwGWDnnXdu+6sxM7N2V9IRlKQ7659HxFMRsSjf1hqSPg48FxEL2rJ+e4qIyyKiKiKqevXqVelyzMwsp6UrSWwJbA30lNSD7D5QAN1552iltQ4EjpE0jmzIendgGrC9pK7pKKo/sDItv5LsfFeNpK5kgzNeyLXXy6/TVLuZmW0iWjqC+iLZOac9yM47LUiP64FL2rLDiDgzIvpHxECyQQ5/jYjPAneRjRYEmJj2AXBDmibN/2tERGo/Po3yGwQMAe4nuxX9kDQqsFvaxw1tqdXMzCqnpStJTAOmSfpqRPy8zLWcAVwl6VzgQeDy1H458HtJy4A1ZIFDRCyRdA3wCFAHnBIRbwFI+gpwG9AFmBkRS8pcu5mZtTNlByMtLJQdiUwBDk5Nc4FfRcSb5SutY1VVVUV1dXWb15dE3NiOBZmZbSJ0NJSSJU2uLy2IiKqG7aVe6mgGsEX6CfAfwC+BL7S5IjMzs2a0NEiiftDCyIjYOzfrr5IWlrc0MzPrzFoaJHF/+vmWpN3qGyXtCrxVtqrMzKzTa6mLr35Y+beAuyQ9kaYHApPKVZSZmVlLAdVL0jfS81+RjYqD7OhpX7Kh4WZmZu2upYDqAmzDO0dS+fW2fe/iZmZm7aOlgKqNiB92SCVmZmY5LQ2SaHjkZGZm1iFaCqhDO6QKMzOzBpoNqIhY01GFmJmZ5ZV6w0IzM7MO5YAyM7NCckCZmVkhOaDMzKyQHFBmZlZIDigzMyskB5SZmRWSA8rMzArJAWVmZoXkgDIzs0JyQJmZWSE5oMzMrJAcUGZmVkgOKDMzKyQHlJmZFZIDyszMCskBZWZmheSAMjOzQnJAmZlZITmgzMyskBxQZmZWSA4oMzMrJAeUmZkVkgPKzMwKyQFlZmaF5IAyM7NCckCZmVkhdXhASRog6S5Jj0haIum01L6DpDmSHk8/e6R2SZouaZmkRZL2y21rYlr+cUkTc+0jJD2c1pkuSR39Os3MbONU4giqDvhmRAwFRgGnSBoKTAXujIghwJ1pGuBIYEh6TAZ+CVmgAecABwD7A+fUh1pa5uTcemM74HWZmVk76vCAiojaiHggPV8PPAr0A8YDs9Jis4Bj0/PxwOzIzAO2l9QHOAKYExFrImItMAcYm+Z1j4h5ERHA7Ny2zMxsE1HRc1CSBgL7AvcBvSOiNs16FuidnvcDVuRWq0ltzbXXNNLe2P4nS6qWVL169eqNezFmZtauKhZQkrYBrgO+FhHr8vPSkU+Uu4aIuCwiqiKiqlevXuXenZmZtUJFAkrSFmThdEVE/DE1r0rdc6Sfz6X2lcCA3Or9U1tz7f0baTczs01IJUbxCbgceDQiLs7NugGoH4k3Ebg+1z4hjeYbBbyUugJvAw6X1CMNjjgcuC3NWydpVNrXhNy2zMxsE9G1Avs8EPgP4GFJD6W27wAXANdIOglYDnwqzbsFGAcsA14BJgFExBpJPwLmp+V+GBFr0vMvA78DtgJuTQ8zM9uEdHhARcQ9QFPfSzq0keUDOKWJbc0EZjbSXg3suRFlmplZhflKEmZmVkgOKDMzKyQHlJmZFZIDyszMCskBZWZmheSAMjOzQnJAmZlZITmgzMyskBxQZmZWSA4oMzMrJAeUmZkVkgPKzMwKyQFlZmaF5IAyM7NCckCZmVkhOaDMzKyQHFBmZlZIDigzMyskB5SZmRWSA8rMzArJAWVmZoXkgDIzs0JyQJmZWSE5oMzMrJAcUGZmVkgOKDMzKyQHlJmZFZIDyszMCskBZWZmheSAMjOzQnJAmZlZITmgzMyskBxQZmZWSA4oMzMrJAeUmZkVkgPKzMwKyQFlZmaF5IAyM7NC2mwDStJYSY9JWiZpaqXrMTOz1tksA0pSF+AXwJHAUOAESUMrW5WZmbXGZhlQwP7Asoh4IiLeAK4Cxle4JjMza4WulS6gTPoBK3LTNcABDReSNBmYnCZflvTYxuxUR2/M2mYbpSfwfKWLsM5L0sasvktjjZtrQJUkIi4DLqt0HWYbS1J1RFRVug6z9rS5dvGtBAbkpvunNjMz20RsrgE1HxgiaZCkbsDxwA0VrsnMzFphs+zii4g6SV8BbgO6ADMjYkmFyzIrJ3dV22ZHEVHpGszMzN5jc+3iMzOzTZwDyszMCskBZVZBkt6S9FDuMVDS/1S6LrMi8DkoswqS9HJEbFPpOsyKyEdQZgUj6eX08xBJcyVdK+mfkq5Q+rq+pLMlzZe0WNJlufa5ki6UdL+kpZIOSu1dJP0kLb9I0ldT+whJd0taIOk2SX0q9brNGnJAmVXWVrnuvT81Mn9f4GtkFz3eFTgwtV8SESMjYk9gK+DjuXW6RsT+ab1zUttkYCCwT0TsBVwhaQvg58BxETECmAmc154vzmxjbJbfgzLbhLwaEfs0M//+iKgBkPQQWcjcA3xU0unA1sAOwBLgxrTOH9PPBWl5gMOASyOiDiAi1kjaE9gTmJMOwLoAte3xoszagwPKrNhezz1/C+gqaUtgBlAVESskfR/YspF13qL5f+MClkTE6Has16zduIvPbNNTH0bPS9oGOK6EdeYAX5TUFUDSDsBjQC9Jo1PbFpKGlaNgs7ZwQJltYiLiReDXwGKyy3nNL2G13wBPA4skLQQ+k+6VdhxwYWp7CPhQOWo2awsPMzczs0LyEZSZmRWSA8rMzArJAWVmZoXkgDIzs0JyQJmZWSE5oMzMrJAcUGZmVkj/Bz43/Ki/rcPMAAAAAElFTkSuQmC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450196" y="5705"/>
            <a:ext cx="11281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Summary of Insights from SQL Analysis</a:t>
            </a:r>
            <a:endParaRPr lang="en-IN" sz="2400" b="1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4A4571-08FC-AEBF-C4BA-8990F5D6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37" y="3789040"/>
            <a:ext cx="6572294" cy="29659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8952B9-B0E7-8509-EFA2-FD7653552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4" y="645042"/>
            <a:ext cx="3925487" cy="2999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584C5A-1E04-DE4E-8F2B-5C3B6476D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986" y="611387"/>
            <a:ext cx="4098050" cy="27349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9217FE-37FE-D283-7568-B28F2BC25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3209" y="1189332"/>
            <a:ext cx="3415402" cy="24556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BCF757-1480-8301-77E9-777D5370D4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783" y="3789040"/>
            <a:ext cx="4213480" cy="289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33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0"/>
            <a:ext cx="11665296" cy="831627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 (Key Findings Overall)</a:t>
            </a:r>
            <a:endParaRPr lang="en-IN" sz="2400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8E76F-09C4-DA73-5D48-D89892A634BB}"/>
              </a:ext>
            </a:extLst>
          </p:cNvPr>
          <p:cNvSpPr txBox="1"/>
          <p:nvPr/>
        </p:nvSpPr>
        <p:spPr>
          <a:xfrm>
            <a:off x="2999656" y="1196752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8AEDA264-8D38-F28B-6E8C-DED9DA40B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80" y="1196752"/>
            <a:ext cx="1130525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Global energy emissions show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consistent upward trend over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indicating increasing energy demand worldwide.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small number of countries contribute the majority of total emissions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highlighting the need for targeted emission control strategies.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Fossil-fuel-based energy sources remain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largest contributors to emissions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while cleaner energy sources have a smaller impact.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Energy consumption per capita has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increased steadily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reflecting changing lifestyles and higher dependency on energy resources.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Differences between energy production and consumption across countries indicate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varying levels of energy self-sufficiency and import dependency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5642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1" y="-13787"/>
            <a:ext cx="12192000" cy="1047651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My Experience / Challenges During SQL–Data Analysis Project</a:t>
            </a:r>
            <a:endParaRPr lang="en-IN" sz="2400" dirty="0">
              <a:solidFill>
                <a:srgbClr val="1F4E79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36D12-E175-4F1B-7FC7-49D0A7CAB8BE}"/>
              </a:ext>
            </a:extLst>
          </p:cNvPr>
          <p:cNvSpPr txBox="1"/>
          <p:nvPr/>
        </p:nvSpPr>
        <p:spPr>
          <a:xfrm>
            <a:off x="2567608" y="2924944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B293943-1534-E76D-D6E6-6F6040A4B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344" y="539141"/>
            <a:ext cx="1173730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4E7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Data Cleaning: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 handled missing, duplicate, and inconsistent data before running SQL queries to ensure accurate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4E7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Working with Multiple Tables: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Joining multiple tables using country and year required careful understanding of relationships and keys.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4E7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Query Performance: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Some queries were slow while working with large data, so I learned how indexing and optimized queries improve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4E7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Visualization: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Converting SQL query outputs into clear and meaningful charts in Power BI helped me present insights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4E7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Key Learning: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This project improved my understanding of SQL joins, data relationships, and how to convert raw data into useful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2176082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1" dirty="0">
                <a:solidFill>
                  <a:srgbClr val="1F4E79"/>
                </a:solidFill>
                <a:latin typeface="Segoe UI" panose="020B0502040204020203" pitchFamily="34" charset="0"/>
                <a:ea typeface="Calibri"/>
                <a:cs typeface="Segoe UI" panose="020B0502040204020203" pitchFamily="34" charset="0"/>
                <a:sym typeface="Libre Baskerville"/>
              </a:rPr>
              <a:t>THANK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1" dirty="0">
                <a:solidFill>
                  <a:srgbClr val="1F4E79"/>
                </a:solidFill>
                <a:latin typeface="Segoe UI" panose="020B0502040204020203" pitchFamily="34" charset="0"/>
                <a:ea typeface="Calibri"/>
                <a:cs typeface="Segoe UI" panose="020B0502040204020203" pitchFamily="34" charset="0"/>
                <a:sym typeface="Libre Baskerville"/>
              </a:rPr>
              <a:t>YOU</a:t>
            </a:r>
            <a:endParaRPr sz="1800" b="1" i="0" u="none" strike="noStrike" cap="none" dirty="0">
              <a:solidFill>
                <a:srgbClr val="1F4E79"/>
              </a:solidFill>
              <a:latin typeface="Segoe UI" panose="020B0502040204020203" pitchFamily="34" charset="0"/>
              <a:ea typeface="Calibri"/>
              <a:cs typeface="Segoe UI" panose="020B0502040204020203" pitchFamily="34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838</Words>
  <Application>Microsoft Macintosh PowerPoint</Application>
  <PresentationFormat>Widescreen</PresentationFormat>
  <Paragraphs>119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Libre Baskerville</vt:lpstr>
      <vt:lpstr>Calibri</vt:lpstr>
      <vt:lpstr>Segoe UI</vt:lpstr>
      <vt:lpstr>Arial</vt:lpstr>
      <vt:lpstr>Office Theme</vt:lpstr>
      <vt:lpstr>PowerPoint Presentation</vt:lpstr>
      <vt:lpstr>Project Objective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(Key Findings Overall)</vt:lpstr>
      <vt:lpstr>My Experience / Challenges During SQL–Data Analysis Project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Mohammadi  Shahin</cp:lastModifiedBy>
  <cp:revision>40</cp:revision>
  <dcterms:created xsi:type="dcterms:W3CDTF">2021-02-16T05:19:01Z</dcterms:created>
  <dcterms:modified xsi:type="dcterms:W3CDTF">2026-04-13T11:12:51Z</dcterms:modified>
</cp:coreProperties>
</file>